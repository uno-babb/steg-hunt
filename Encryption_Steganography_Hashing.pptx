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0"/>
  </p:notesMasterIdLst>
  <p:sldIdLst>
    <p:sldId id="256" r:id="rId2"/>
    <p:sldId id="257" r:id="rId3"/>
    <p:sldId id="303" r:id="rId4"/>
    <p:sldId id="346" r:id="rId5"/>
    <p:sldId id="348" r:id="rId6"/>
    <p:sldId id="381" r:id="rId7"/>
    <p:sldId id="392" r:id="rId8"/>
    <p:sldId id="351" r:id="rId9"/>
    <p:sldId id="352" r:id="rId10"/>
    <p:sldId id="353" r:id="rId11"/>
    <p:sldId id="354" r:id="rId12"/>
    <p:sldId id="374" r:id="rId13"/>
    <p:sldId id="355" r:id="rId14"/>
    <p:sldId id="358" r:id="rId15"/>
    <p:sldId id="359" r:id="rId16"/>
    <p:sldId id="375" r:id="rId17"/>
    <p:sldId id="360" r:id="rId18"/>
    <p:sldId id="361" r:id="rId19"/>
    <p:sldId id="362" r:id="rId20"/>
    <p:sldId id="373" r:id="rId21"/>
    <p:sldId id="393" r:id="rId22"/>
    <p:sldId id="365" r:id="rId23"/>
    <p:sldId id="376" r:id="rId24"/>
    <p:sldId id="394" r:id="rId25"/>
    <p:sldId id="382" r:id="rId26"/>
    <p:sldId id="377" r:id="rId27"/>
    <p:sldId id="378" r:id="rId28"/>
    <p:sldId id="383" r:id="rId29"/>
    <p:sldId id="384" r:id="rId30"/>
    <p:sldId id="385" r:id="rId31"/>
    <p:sldId id="386" r:id="rId32"/>
    <p:sldId id="387" r:id="rId33"/>
    <p:sldId id="388" r:id="rId34"/>
    <p:sldId id="390" r:id="rId35"/>
    <p:sldId id="391" r:id="rId36"/>
    <p:sldId id="389" r:id="rId37"/>
    <p:sldId id="368" r:id="rId38"/>
    <p:sldId id="26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192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93D490-DF19-2347-A958-05D7E9663BD7}" v="27" dt="2025-03-24T16:41:31.9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12" autoAdjust="0"/>
    <p:restoredTop sz="94660"/>
  </p:normalViewPr>
  <p:slideViewPr>
    <p:cSldViewPr snapToGrid="0">
      <p:cViewPr varScale="1">
        <p:scale>
          <a:sx n="143" d="100"/>
          <a:sy n="143" d="100"/>
        </p:scale>
        <p:origin x="13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ek Babb" userId="5caa49d1-7d0d-4b82-b270-42850c11131f" providerId="ADAL" clId="{1293D490-DF19-2347-A958-05D7E9663BD7}"/>
    <pc:docChg chg="undo custSel addSld modSld sldOrd">
      <pc:chgData name="Derek Babb" userId="5caa49d1-7d0d-4b82-b270-42850c11131f" providerId="ADAL" clId="{1293D490-DF19-2347-A958-05D7E9663BD7}" dt="2025-03-24T16:42:27.862" v="390" actId="20577"/>
      <pc:docMkLst>
        <pc:docMk/>
      </pc:docMkLst>
      <pc:sldChg chg="modSp mod">
        <pc:chgData name="Derek Babb" userId="5caa49d1-7d0d-4b82-b270-42850c11131f" providerId="ADAL" clId="{1293D490-DF19-2347-A958-05D7E9663BD7}" dt="2025-03-24T16:42:27.862" v="390" actId="20577"/>
        <pc:sldMkLst>
          <pc:docMk/>
          <pc:sldMk cId="2855543585" sldId="265"/>
        </pc:sldMkLst>
        <pc:spChg chg="mod">
          <ac:chgData name="Derek Babb" userId="5caa49d1-7d0d-4b82-b270-42850c11131f" providerId="ADAL" clId="{1293D490-DF19-2347-A958-05D7E9663BD7}" dt="2025-03-24T16:42:27.862" v="390" actId="20577"/>
          <ac:spMkLst>
            <pc:docMk/>
            <pc:sldMk cId="2855543585" sldId="265"/>
            <ac:spMk id="3" creationId="{00000000-0000-0000-0000-000000000000}"/>
          </ac:spMkLst>
        </pc:spChg>
      </pc:sldChg>
      <pc:sldChg chg="addSp modSp">
        <pc:chgData name="Derek Babb" userId="5caa49d1-7d0d-4b82-b270-42850c11131f" providerId="ADAL" clId="{1293D490-DF19-2347-A958-05D7E9663BD7}" dt="2025-03-24T16:03:45.589" v="22" actId="1076"/>
        <pc:sldMkLst>
          <pc:docMk/>
          <pc:sldMk cId="0" sldId="358"/>
        </pc:sldMkLst>
        <pc:picChg chg="add mod">
          <ac:chgData name="Derek Babb" userId="5caa49d1-7d0d-4b82-b270-42850c11131f" providerId="ADAL" clId="{1293D490-DF19-2347-A958-05D7E9663BD7}" dt="2025-03-24T16:03:45.589" v="22" actId="1076"/>
          <ac:picMkLst>
            <pc:docMk/>
            <pc:sldMk cId="0" sldId="358"/>
            <ac:picMk id="1026" creationId="{C700D454-EF9A-CC2B-A79F-88A58208C98F}"/>
          </ac:picMkLst>
        </pc:picChg>
      </pc:sldChg>
      <pc:sldChg chg="addSp modSp mod modClrScheme chgLayout">
        <pc:chgData name="Derek Babb" userId="5caa49d1-7d0d-4b82-b270-42850c11131f" providerId="ADAL" clId="{1293D490-DF19-2347-A958-05D7E9663BD7}" dt="2025-03-24T16:04:58.077" v="37" actId="1076"/>
        <pc:sldMkLst>
          <pc:docMk/>
          <pc:sldMk cId="0" sldId="359"/>
        </pc:sldMkLst>
        <pc:spChg chg="mod ord">
          <ac:chgData name="Derek Babb" userId="5caa49d1-7d0d-4b82-b270-42850c11131f" providerId="ADAL" clId="{1293D490-DF19-2347-A958-05D7E9663BD7}" dt="2025-03-24T16:04:43.003" v="30" actId="26606"/>
          <ac:spMkLst>
            <pc:docMk/>
            <pc:sldMk cId="0" sldId="359"/>
            <ac:spMk id="36867" creationId="{7B72748E-36E3-4ABD-8DCD-036557AF81B4}"/>
          </ac:spMkLst>
        </pc:spChg>
        <pc:spChg chg="mod">
          <ac:chgData name="Derek Babb" userId="5caa49d1-7d0d-4b82-b270-42850c11131f" providerId="ADAL" clId="{1293D490-DF19-2347-A958-05D7E9663BD7}" dt="2025-03-24T16:04:43.003" v="30" actId="26606"/>
          <ac:spMkLst>
            <pc:docMk/>
            <pc:sldMk cId="0" sldId="359"/>
            <ac:spMk id="36868" creationId="{FE37604F-7EB2-4A05-8FAF-A66FCC42A43A}"/>
          </ac:spMkLst>
        </pc:spChg>
        <pc:spChg chg="mod">
          <ac:chgData name="Derek Babb" userId="5caa49d1-7d0d-4b82-b270-42850c11131f" providerId="ADAL" clId="{1293D490-DF19-2347-A958-05D7E9663BD7}" dt="2025-03-24T16:04:52.743" v="34" actId="1076"/>
          <ac:spMkLst>
            <pc:docMk/>
            <pc:sldMk cId="0" sldId="359"/>
            <ac:spMk id="36869" creationId="{6F8B0F9A-2EC3-4CC1-AAB3-5165A0187A4E}"/>
          </ac:spMkLst>
        </pc:spChg>
        <pc:picChg chg="add mod">
          <ac:chgData name="Derek Babb" userId="5caa49d1-7d0d-4b82-b270-42850c11131f" providerId="ADAL" clId="{1293D490-DF19-2347-A958-05D7E9663BD7}" dt="2025-03-24T16:04:58.077" v="37" actId="1076"/>
          <ac:picMkLst>
            <pc:docMk/>
            <pc:sldMk cId="0" sldId="359"/>
            <ac:picMk id="2050" creationId="{90CC75F6-CDE5-AE2A-F991-F0ECA6868EF2}"/>
          </ac:picMkLst>
        </pc:picChg>
      </pc:sldChg>
      <pc:sldChg chg="addSp delSp modSp mod ord">
        <pc:chgData name="Derek Babb" userId="5caa49d1-7d0d-4b82-b270-42850c11131f" providerId="ADAL" clId="{1293D490-DF19-2347-A958-05D7E9663BD7}" dt="2025-03-24T16:25:09.410" v="105" actId="20577"/>
        <pc:sldMkLst>
          <pc:docMk/>
          <pc:sldMk cId="0" sldId="365"/>
        </pc:sldMkLst>
        <pc:graphicFrameChg chg="add mod modGraphic">
          <ac:chgData name="Derek Babb" userId="5caa49d1-7d0d-4b82-b270-42850c11131f" providerId="ADAL" clId="{1293D490-DF19-2347-A958-05D7E9663BD7}" dt="2025-03-24T16:25:09.410" v="105" actId="20577"/>
          <ac:graphicFrameMkLst>
            <pc:docMk/>
            <pc:sldMk cId="0" sldId="365"/>
            <ac:graphicFrameMk id="2" creationId="{057EAF03-C160-5E35-E905-008021F99081}"/>
          </ac:graphicFrameMkLst>
        </pc:graphicFrameChg>
        <pc:picChg chg="add del mod">
          <ac:chgData name="Derek Babb" userId="5caa49d1-7d0d-4b82-b270-42850c11131f" providerId="ADAL" clId="{1293D490-DF19-2347-A958-05D7E9663BD7}" dt="2025-03-24T16:08:22.563" v="50" actId="478"/>
          <ac:picMkLst>
            <pc:docMk/>
            <pc:sldMk cId="0" sldId="365"/>
            <ac:picMk id="4098" creationId="{BBE632C5-EB76-AB79-EFDA-E950E2DC09DA}"/>
          </ac:picMkLst>
        </pc:picChg>
      </pc:sldChg>
      <pc:sldChg chg="addSp modSp mod modClrScheme chgLayout">
        <pc:chgData name="Derek Babb" userId="5caa49d1-7d0d-4b82-b270-42850c11131f" providerId="ADAL" clId="{1293D490-DF19-2347-A958-05D7E9663BD7}" dt="2025-03-24T16:06:05.703" v="43" actId="14100"/>
        <pc:sldMkLst>
          <pc:docMk/>
          <pc:sldMk cId="0" sldId="375"/>
        </pc:sldMkLst>
        <pc:spChg chg="mod ord">
          <ac:chgData name="Derek Babb" userId="5caa49d1-7d0d-4b82-b270-42850c11131f" providerId="ADAL" clId="{1293D490-DF19-2347-A958-05D7E9663BD7}" dt="2025-03-24T16:06:01.601" v="42" actId="26606"/>
          <ac:spMkLst>
            <pc:docMk/>
            <pc:sldMk cId="0" sldId="375"/>
            <ac:spMk id="38915" creationId="{01F8B359-5FE3-4A65-92E2-121C126E23BD}"/>
          </ac:spMkLst>
        </pc:spChg>
        <pc:spChg chg="mod">
          <ac:chgData name="Derek Babb" userId="5caa49d1-7d0d-4b82-b270-42850c11131f" providerId="ADAL" clId="{1293D490-DF19-2347-A958-05D7E9663BD7}" dt="2025-03-24T16:06:01.601" v="42" actId="26606"/>
          <ac:spMkLst>
            <pc:docMk/>
            <pc:sldMk cId="0" sldId="375"/>
            <ac:spMk id="38916" creationId="{15F30F5F-90FB-4FA8-AE8E-52D70FC17497}"/>
          </ac:spMkLst>
        </pc:spChg>
        <pc:spChg chg="mod">
          <ac:chgData name="Derek Babb" userId="5caa49d1-7d0d-4b82-b270-42850c11131f" providerId="ADAL" clId="{1293D490-DF19-2347-A958-05D7E9663BD7}" dt="2025-03-24T16:06:05.703" v="43" actId="14100"/>
          <ac:spMkLst>
            <pc:docMk/>
            <pc:sldMk cId="0" sldId="375"/>
            <ac:spMk id="38917" creationId="{88F9EEB1-E5FF-443B-8010-DB798FD649CC}"/>
          </ac:spMkLst>
        </pc:spChg>
        <pc:picChg chg="add mod">
          <ac:chgData name="Derek Babb" userId="5caa49d1-7d0d-4b82-b270-42850c11131f" providerId="ADAL" clId="{1293D490-DF19-2347-A958-05D7E9663BD7}" dt="2025-03-24T16:06:01.601" v="42" actId="26606"/>
          <ac:picMkLst>
            <pc:docMk/>
            <pc:sldMk cId="0" sldId="375"/>
            <ac:picMk id="3074" creationId="{E871AF93-072E-36C7-B14F-126F93A48424}"/>
          </ac:picMkLst>
        </pc:picChg>
      </pc:sldChg>
      <pc:sldChg chg="addSp delSp modSp mod">
        <pc:chgData name="Derek Babb" userId="5caa49d1-7d0d-4b82-b270-42850c11131f" providerId="ADAL" clId="{1293D490-DF19-2347-A958-05D7E9663BD7}" dt="2025-03-24T16:26:14.503" v="116" actId="20577"/>
        <pc:sldMkLst>
          <pc:docMk/>
          <pc:sldMk cId="0" sldId="376"/>
        </pc:sldMkLst>
        <pc:spChg chg="add del">
          <ac:chgData name="Derek Babb" userId="5caa49d1-7d0d-4b82-b270-42850c11131f" providerId="ADAL" clId="{1293D490-DF19-2347-A958-05D7E9663BD7}" dt="2025-03-24T16:11:23.843" v="82" actId="22"/>
          <ac:spMkLst>
            <pc:docMk/>
            <pc:sldMk cId="0" sldId="376"/>
            <ac:spMk id="3" creationId="{5EE46A2B-473B-5AB7-BA1A-FC3BCEE40576}"/>
          </ac:spMkLst>
        </pc:spChg>
        <pc:graphicFrameChg chg="add mod modGraphic">
          <ac:chgData name="Derek Babb" userId="5caa49d1-7d0d-4b82-b270-42850c11131f" providerId="ADAL" clId="{1293D490-DF19-2347-A958-05D7E9663BD7}" dt="2025-03-24T16:26:14.503" v="116" actId="20577"/>
          <ac:graphicFrameMkLst>
            <pc:docMk/>
            <pc:sldMk cId="0" sldId="376"/>
            <ac:graphicFrameMk id="4" creationId="{BBF2C673-4776-33A2-8631-1F9C52EF1F54}"/>
          </ac:graphicFrameMkLst>
        </pc:graphicFrameChg>
      </pc:sldChg>
      <pc:sldChg chg="modSp mod">
        <pc:chgData name="Derek Babb" userId="5caa49d1-7d0d-4b82-b270-42850c11131f" providerId="ADAL" clId="{1293D490-DF19-2347-A958-05D7E9663BD7}" dt="2025-03-24T16:35:52.638" v="149" actId="20577"/>
        <pc:sldMkLst>
          <pc:docMk/>
          <pc:sldMk cId="0" sldId="377"/>
        </pc:sldMkLst>
        <pc:spChg chg="mod">
          <ac:chgData name="Derek Babb" userId="5caa49d1-7d0d-4b82-b270-42850c11131f" providerId="ADAL" clId="{1293D490-DF19-2347-A958-05D7E9663BD7}" dt="2025-03-24T16:35:52.638" v="149" actId="20577"/>
          <ac:spMkLst>
            <pc:docMk/>
            <pc:sldMk cId="0" sldId="377"/>
            <ac:spMk id="61443" creationId="{794E5D3A-950A-4FE1-AE73-5E02D77B3121}"/>
          </ac:spMkLst>
        </pc:spChg>
      </pc:sldChg>
      <pc:sldChg chg="modSp mod">
        <pc:chgData name="Derek Babb" userId="5caa49d1-7d0d-4b82-b270-42850c11131f" providerId="ADAL" clId="{1293D490-DF19-2347-A958-05D7E9663BD7}" dt="2025-03-24T16:36:30.168" v="156" actId="15"/>
        <pc:sldMkLst>
          <pc:docMk/>
          <pc:sldMk cId="0" sldId="378"/>
        </pc:sldMkLst>
        <pc:spChg chg="mod">
          <ac:chgData name="Derek Babb" userId="5caa49d1-7d0d-4b82-b270-42850c11131f" providerId="ADAL" clId="{1293D490-DF19-2347-A958-05D7E9663BD7}" dt="2025-03-24T16:36:30.168" v="156" actId="15"/>
          <ac:spMkLst>
            <pc:docMk/>
            <pc:sldMk cId="0" sldId="378"/>
            <ac:spMk id="62467" creationId="{985DF9BD-9BEE-485E-91B5-35245A041473}"/>
          </ac:spMkLst>
        </pc:spChg>
      </pc:sldChg>
      <pc:sldChg chg="modSp mod">
        <pc:chgData name="Derek Babb" userId="5caa49d1-7d0d-4b82-b270-42850c11131f" providerId="ADAL" clId="{1293D490-DF19-2347-A958-05D7E9663BD7}" dt="2025-03-24T16:35:08.976" v="143" actId="207"/>
        <pc:sldMkLst>
          <pc:docMk/>
          <pc:sldMk cId="0" sldId="382"/>
        </pc:sldMkLst>
        <pc:spChg chg="mod">
          <ac:chgData name="Derek Babb" userId="5caa49d1-7d0d-4b82-b270-42850c11131f" providerId="ADAL" clId="{1293D490-DF19-2347-A958-05D7E9663BD7}" dt="2025-03-24T16:35:08.976" v="143" actId="207"/>
          <ac:spMkLst>
            <pc:docMk/>
            <pc:sldMk cId="0" sldId="382"/>
            <ac:spMk id="59395" creationId="{E536AC2B-AEC9-4BAA-91A4-0E6588C1E6A1}"/>
          </ac:spMkLst>
        </pc:spChg>
      </pc:sldChg>
      <pc:sldChg chg="addSp modSp mod">
        <pc:chgData name="Derek Babb" userId="5caa49d1-7d0d-4b82-b270-42850c11131f" providerId="ADAL" clId="{1293D490-DF19-2347-A958-05D7E9663BD7}" dt="2025-03-24T16:41:31.936" v="367" actId="1076"/>
        <pc:sldMkLst>
          <pc:docMk/>
          <pc:sldMk cId="0" sldId="385"/>
        </pc:sldMkLst>
        <pc:spChg chg="mod">
          <ac:chgData name="Derek Babb" userId="5caa49d1-7d0d-4b82-b270-42850c11131f" providerId="ADAL" clId="{1293D490-DF19-2347-A958-05D7E9663BD7}" dt="2025-03-24T16:41:25.664" v="365" actId="1076"/>
          <ac:spMkLst>
            <pc:docMk/>
            <pc:sldMk cId="0" sldId="385"/>
            <ac:spMk id="49155" creationId="{F2F1CDD5-12E0-41EE-929C-CB3B9A26BA4C}"/>
          </ac:spMkLst>
        </pc:spChg>
        <pc:picChg chg="add mod">
          <ac:chgData name="Derek Babb" userId="5caa49d1-7d0d-4b82-b270-42850c11131f" providerId="ADAL" clId="{1293D490-DF19-2347-A958-05D7E9663BD7}" dt="2025-03-24T16:41:31.936" v="367" actId="1076"/>
          <ac:picMkLst>
            <pc:docMk/>
            <pc:sldMk cId="0" sldId="385"/>
            <ac:picMk id="8194" creationId="{840A6F40-A813-197D-BC08-4EE31A0F2DF6}"/>
          </ac:picMkLst>
        </pc:picChg>
      </pc:sldChg>
      <pc:sldChg chg="modSp mod">
        <pc:chgData name="Derek Babb" userId="5caa49d1-7d0d-4b82-b270-42850c11131f" providerId="ADAL" clId="{1293D490-DF19-2347-A958-05D7E9663BD7}" dt="2025-03-24T16:41:43.741" v="368" actId="33524"/>
        <pc:sldMkLst>
          <pc:docMk/>
          <pc:sldMk cId="0" sldId="386"/>
        </pc:sldMkLst>
        <pc:spChg chg="mod">
          <ac:chgData name="Derek Babb" userId="5caa49d1-7d0d-4b82-b270-42850c11131f" providerId="ADAL" clId="{1293D490-DF19-2347-A958-05D7E9663BD7}" dt="2025-03-24T16:41:43.741" v="368" actId="33524"/>
          <ac:spMkLst>
            <pc:docMk/>
            <pc:sldMk cId="0" sldId="386"/>
            <ac:spMk id="66562" creationId="{60FF7AB0-C862-457D-8A99-FC2A80BD12CF}"/>
          </ac:spMkLst>
        </pc:spChg>
      </pc:sldChg>
      <pc:sldChg chg="addSp delSp modSp new mod modAnim">
        <pc:chgData name="Derek Babb" userId="5caa49d1-7d0d-4b82-b270-42850c11131f" providerId="ADAL" clId="{1293D490-DF19-2347-A958-05D7E9663BD7}" dt="2025-03-24T16:02:15.913" v="17"/>
        <pc:sldMkLst>
          <pc:docMk/>
          <pc:sldMk cId="689320126" sldId="392"/>
        </pc:sldMkLst>
        <pc:spChg chg="mod">
          <ac:chgData name="Derek Babb" userId="5caa49d1-7d0d-4b82-b270-42850c11131f" providerId="ADAL" clId="{1293D490-DF19-2347-A958-05D7E9663BD7}" dt="2025-03-24T16:01:10.714" v="16" actId="20577"/>
          <ac:spMkLst>
            <pc:docMk/>
            <pc:sldMk cId="689320126" sldId="392"/>
            <ac:spMk id="2" creationId="{7D46C56E-1627-8181-3285-61E749D8F4BB}"/>
          </ac:spMkLst>
        </pc:spChg>
        <pc:spChg chg="del">
          <ac:chgData name="Derek Babb" userId="5caa49d1-7d0d-4b82-b270-42850c11131f" providerId="ADAL" clId="{1293D490-DF19-2347-A958-05D7E9663BD7}" dt="2025-03-24T16:02:15.913" v="17"/>
          <ac:spMkLst>
            <pc:docMk/>
            <pc:sldMk cId="689320126" sldId="392"/>
            <ac:spMk id="3" creationId="{3164A0E9-1BF8-5EE1-D387-7AD3A055E6BF}"/>
          </ac:spMkLst>
        </pc:spChg>
        <pc:picChg chg="add mod">
          <ac:chgData name="Derek Babb" userId="5caa49d1-7d0d-4b82-b270-42850c11131f" providerId="ADAL" clId="{1293D490-DF19-2347-A958-05D7E9663BD7}" dt="2025-03-24T16:02:15.913" v="17"/>
          <ac:picMkLst>
            <pc:docMk/>
            <pc:sldMk cId="689320126" sldId="392"/>
            <ac:picMk id="5" creationId="{B3CF210A-4773-71A7-C545-3E207AA2CD81}"/>
          </ac:picMkLst>
        </pc:picChg>
      </pc:sldChg>
      <pc:sldChg chg="addSp delSp modSp add mod">
        <pc:chgData name="Derek Babb" userId="5caa49d1-7d0d-4b82-b270-42850c11131f" providerId="ADAL" clId="{1293D490-DF19-2347-A958-05D7E9663BD7}" dt="2025-03-24T16:08:15.017" v="49" actId="478"/>
        <pc:sldMkLst>
          <pc:docMk/>
          <pc:sldMk cId="1263668729" sldId="393"/>
        </pc:sldMkLst>
        <pc:spChg chg="add del mod">
          <ac:chgData name="Derek Babb" userId="5caa49d1-7d0d-4b82-b270-42850c11131f" providerId="ADAL" clId="{1293D490-DF19-2347-A958-05D7E9663BD7}" dt="2025-03-24T16:08:15.017" v="49" actId="478"/>
          <ac:spMkLst>
            <pc:docMk/>
            <pc:sldMk cId="1263668729" sldId="393"/>
            <ac:spMk id="3" creationId="{3AEFCAE5-A435-2C22-9826-17B1D55DA064}"/>
          </ac:spMkLst>
        </pc:spChg>
        <pc:spChg chg="del">
          <ac:chgData name="Derek Babb" userId="5caa49d1-7d0d-4b82-b270-42850c11131f" providerId="ADAL" clId="{1293D490-DF19-2347-A958-05D7E9663BD7}" dt="2025-03-24T16:08:07.052" v="47" actId="478"/>
          <ac:spMkLst>
            <pc:docMk/>
            <pc:sldMk cId="1263668729" sldId="393"/>
            <ac:spMk id="51205" creationId="{1B6CCA37-EF86-485D-0F7E-58E4036F50C5}"/>
          </ac:spMkLst>
        </pc:spChg>
        <pc:picChg chg="mod">
          <ac:chgData name="Derek Babb" userId="5caa49d1-7d0d-4b82-b270-42850c11131f" providerId="ADAL" clId="{1293D490-DF19-2347-A958-05D7E9663BD7}" dt="2025-03-24T16:08:11.365" v="48" actId="1076"/>
          <ac:picMkLst>
            <pc:docMk/>
            <pc:sldMk cId="1263668729" sldId="393"/>
            <ac:picMk id="4098" creationId="{BFECC90E-9C1E-2C0D-CFD5-60C94A408CD4}"/>
          </ac:picMkLst>
        </pc:picChg>
      </pc:sldChg>
      <pc:sldChg chg="addSp modSp new mod">
        <pc:chgData name="Derek Babb" userId="5caa49d1-7d0d-4b82-b270-42850c11131f" providerId="ADAL" clId="{1293D490-DF19-2347-A958-05D7E9663BD7}" dt="2025-03-24T16:28:21.499" v="139" actId="20577"/>
        <pc:sldMkLst>
          <pc:docMk/>
          <pc:sldMk cId="3368987538" sldId="394"/>
        </pc:sldMkLst>
        <pc:spChg chg="mod">
          <ac:chgData name="Derek Babb" userId="5caa49d1-7d0d-4b82-b270-42850c11131f" providerId="ADAL" clId="{1293D490-DF19-2347-A958-05D7E9663BD7}" dt="2025-03-24T16:28:21.499" v="139" actId="20577"/>
          <ac:spMkLst>
            <pc:docMk/>
            <pc:sldMk cId="3368987538" sldId="394"/>
            <ac:spMk id="2" creationId="{7D1D965D-0C9E-66C3-1D7D-EA56E443B842}"/>
          </ac:spMkLst>
        </pc:spChg>
        <pc:spChg chg="mod">
          <ac:chgData name="Derek Babb" userId="5caa49d1-7d0d-4b82-b270-42850c11131f" providerId="ADAL" clId="{1293D490-DF19-2347-A958-05D7E9663BD7}" dt="2025-03-24T16:28:00.408" v="119" actId="5793"/>
          <ac:spMkLst>
            <pc:docMk/>
            <pc:sldMk cId="3368987538" sldId="394"/>
            <ac:spMk id="3" creationId="{5824BC02-7796-6579-6EB8-DC087B23D07C}"/>
          </ac:spMkLst>
        </pc:spChg>
        <pc:graphicFrameChg chg="add mod">
          <ac:chgData name="Derek Babb" userId="5caa49d1-7d0d-4b82-b270-42850c11131f" providerId="ADAL" clId="{1293D490-DF19-2347-A958-05D7E9663BD7}" dt="2025-03-24T16:28:13.371" v="120"/>
          <ac:graphicFrameMkLst>
            <pc:docMk/>
            <pc:sldMk cId="3368987538" sldId="394"/>
            <ac:graphicFrameMk id="5" creationId="{ECCA33CC-0069-6CBD-8FE3-CC4B35328F41}"/>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5CB68C-2613-4B5F-8E02-A79A04A545FE}" type="datetimeFigureOut">
              <a:rPr lang="en-US" smtClean="0"/>
              <a:t>3/24/25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CAA75F-8424-4DB3-8CC4-F1B0EEDA20CF}" type="slidenum">
              <a:rPr lang="en-US" smtClean="0"/>
              <a:t>‹#›</a:t>
            </a:fld>
            <a:endParaRPr lang="en-US"/>
          </a:p>
        </p:txBody>
      </p:sp>
    </p:spTree>
    <p:extLst>
      <p:ext uri="{BB962C8B-B14F-4D97-AF65-F5344CB8AC3E}">
        <p14:creationId xmlns:p14="http://schemas.microsoft.com/office/powerpoint/2010/main" val="3832304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BECAA75F-8424-4DB3-8CC4-F1B0EEDA20CF}" type="slidenum">
              <a:rPr lang="en-US" smtClean="0"/>
              <a:t>1</a:t>
            </a:fld>
            <a:endParaRPr lang="en-US"/>
          </a:p>
        </p:txBody>
      </p:sp>
    </p:spTree>
    <p:extLst>
      <p:ext uri="{BB962C8B-B14F-4D97-AF65-F5344CB8AC3E}">
        <p14:creationId xmlns:p14="http://schemas.microsoft.com/office/powerpoint/2010/main" val="21503743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7">
            <a:extLst>
              <a:ext uri="{FF2B5EF4-FFF2-40B4-BE49-F238E27FC236}">
                <a16:creationId xmlns:a16="http://schemas.microsoft.com/office/drawing/2014/main" id="{354A22DF-AA19-4364-8620-D40B46809CB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8F19D264-DA5C-408D-9212-747488862BA3}" type="slidenum">
              <a:rPr lang="en-US" altLang="en-US" smtClean="0"/>
              <a:pPr>
                <a:spcBef>
                  <a:spcPct val="0"/>
                </a:spcBef>
              </a:pPr>
              <a:t>3</a:t>
            </a:fld>
            <a:endParaRPr lang="en-US" altLang="en-US"/>
          </a:p>
        </p:txBody>
      </p:sp>
      <p:sp>
        <p:nvSpPr>
          <p:cNvPr id="9219" name="Rectangle 2">
            <a:extLst>
              <a:ext uri="{FF2B5EF4-FFF2-40B4-BE49-F238E27FC236}">
                <a16:creationId xmlns:a16="http://schemas.microsoft.com/office/drawing/2014/main" id="{4CC35EE1-9ECD-4252-A599-AB7B5FBEF217}"/>
              </a:ext>
            </a:extLst>
          </p:cNvPr>
          <p:cNvSpPr>
            <a:spLocks noGrp="1" noRot="1" noChangeAspect="1" noChangeArrowheads="1" noTextEdit="1"/>
          </p:cNvSpPr>
          <p:nvPr>
            <p:ph type="sldImg"/>
          </p:nvPr>
        </p:nvSpPr>
        <p:spPr>
          <a:ln/>
        </p:spPr>
      </p:sp>
      <p:sp>
        <p:nvSpPr>
          <p:cNvPr id="9220" name="Rectangle 3">
            <a:extLst>
              <a:ext uri="{FF2B5EF4-FFF2-40B4-BE49-F238E27FC236}">
                <a16:creationId xmlns:a16="http://schemas.microsoft.com/office/drawing/2014/main" id="{1398C492-066C-4EB1-A64A-9E617A70F6A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Encryption</a:t>
            </a:r>
          </a:p>
          <a:p>
            <a:pPr lvl="1" eaLnBrk="1" hangingPunct="1"/>
            <a:r>
              <a:rPr lang="en-US" altLang="en-US" sz="1300">
                <a:latin typeface="Arial" panose="020B0604020202020204" pitchFamily="34" charset="0"/>
              </a:rPr>
              <a:t>The process to scramble a message or other information so that it cannot be easily read.</a:t>
            </a:r>
          </a:p>
          <a:p>
            <a:pPr lvl="1" eaLnBrk="1" hangingPunct="1"/>
            <a:r>
              <a:rPr lang="en-US" altLang="en-US" sz="1300">
                <a:latin typeface="Arial" panose="020B0604020202020204" pitchFamily="34" charset="0"/>
              </a:rPr>
              <a:t>One of the most critical parts to the security puzzle.</a:t>
            </a:r>
          </a:p>
          <a:p>
            <a:pPr lvl="1" eaLnBrk="1" hangingPunct="1"/>
            <a:r>
              <a:rPr lang="en-US" altLang="en-US" sz="1300">
                <a:latin typeface="Arial" panose="020B0604020202020204" pitchFamily="34" charset="0"/>
              </a:rPr>
              <a:t>Without it, all firewalls, IDSs, antivirus and antispyware software, policies, and so forth are inadequate.</a:t>
            </a:r>
          </a:p>
          <a:p>
            <a:pPr eaLnBrk="1" hangingPunct="1"/>
            <a:r>
              <a:rPr lang="en-US" altLang="en-US">
                <a:latin typeface="Arial" panose="020B0604020202020204" pitchFamily="34" charset="0"/>
              </a:rPr>
              <a:t>Cryptography</a:t>
            </a:r>
          </a:p>
          <a:p>
            <a:pPr lvl="1" eaLnBrk="1" hangingPunct="1"/>
            <a:r>
              <a:rPr lang="en-US" altLang="en-US" sz="1300">
                <a:latin typeface="Arial" panose="020B0604020202020204" pitchFamily="34" charset="0"/>
              </a:rPr>
              <a:t>The art of writing or deciphering secret code</a:t>
            </a:r>
          </a:p>
          <a:p>
            <a:pPr eaLnBrk="1" hangingPunct="1"/>
            <a:r>
              <a:rPr lang="en-US" altLang="en-US">
                <a:latin typeface="Arial" panose="020B0604020202020204" pitchFamily="34" charset="0"/>
              </a:rPr>
              <a:t>Basic overview</a:t>
            </a:r>
          </a:p>
          <a:p>
            <a:pPr lvl="1" eaLnBrk="1" hangingPunct="1"/>
            <a:r>
              <a:rPr lang="en-US" altLang="en-US" sz="1300">
                <a:latin typeface="Arial" panose="020B0604020202020204" pitchFamily="34" charset="0"/>
              </a:rPr>
              <a:t>This is a complex topic.</a:t>
            </a:r>
          </a:p>
          <a:p>
            <a:pPr lvl="1" eaLnBrk="1" hangingPunct="1"/>
            <a:r>
              <a:rPr lang="en-US" altLang="en-US" sz="1300">
                <a:latin typeface="Arial" panose="020B0604020202020204" pitchFamily="34" charset="0"/>
              </a:rPr>
              <a:t>You get some idea of how it works and how to make intelligent decisions about it.</a:t>
            </a:r>
          </a:p>
          <a:p>
            <a:pPr lvl="1" eaLnBrk="1" hangingPunct="1"/>
            <a:endParaRPr lang="en-US" altLang="en-US" sz="1300">
              <a:latin typeface="Arial" panose="020B0604020202020204" pitchFamily="34" charset="0"/>
            </a:endParaRPr>
          </a:p>
          <a:p>
            <a:pPr eaLnBrk="1" hangingPunct="1"/>
            <a:endParaRPr lang="en-US" altLang="en-US">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a:extLst>
              <a:ext uri="{FF2B5EF4-FFF2-40B4-BE49-F238E27FC236}">
                <a16:creationId xmlns:a16="http://schemas.microsoft.com/office/drawing/2014/main" id="{1952664E-2AE9-47A5-8098-52B9AE639B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3A113F61-F510-4CD3-9B6A-EB30F3A34CC0}" type="slidenum">
              <a:rPr lang="en-US" altLang="en-US" smtClean="0"/>
              <a:pPr>
                <a:spcBef>
                  <a:spcPct val="0"/>
                </a:spcBef>
              </a:pPr>
              <a:t>4</a:t>
            </a:fld>
            <a:endParaRPr lang="en-US" altLang="en-US"/>
          </a:p>
        </p:txBody>
      </p:sp>
      <p:sp>
        <p:nvSpPr>
          <p:cNvPr id="11267" name="Rectangle 2">
            <a:extLst>
              <a:ext uri="{FF2B5EF4-FFF2-40B4-BE49-F238E27FC236}">
                <a16:creationId xmlns:a16="http://schemas.microsoft.com/office/drawing/2014/main" id="{7D4D24DE-C47C-4DAC-B3E1-5B7924ECC65E}"/>
              </a:ext>
            </a:extLst>
          </p:cNvPr>
          <p:cNvSpPr>
            <a:spLocks noGrp="1" noRot="1" noChangeAspect="1" noChangeArrowheads="1" noTextEdit="1"/>
          </p:cNvSpPr>
          <p:nvPr>
            <p:ph type="sldImg"/>
          </p:nvPr>
        </p:nvSpPr>
        <p:spPr>
          <a:ln/>
        </p:spPr>
      </p:sp>
      <p:sp>
        <p:nvSpPr>
          <p:cNvPr id="11268" name="Rectangle 3">
            <a:extLst>
              <a:ext uri="{FF2B5EF4-FFF2-40B4-BE49-F238E27FC236}">
                <a16:creationId xmlns:a16="http://schemas.microsoft.com/office/drawing/2014/main" id="{4873DC72-36AF-45FB-AFDE-EAEE94F4BA9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a:p>
            <a:pPr eaLnBrk="1" hangingPunct="1"/>
            <a:r>
              <a:rPr lang="en-US" altLang="en-US">
                <a:latin typeface="Arial" panose="020B0604020202020204" pitchFamily="34" charset="0"/>
              </a:rPr>
              <a:t>Decryption</a:t>
            </a:r>
          </a:p>
          <a:p>
            <a:pPr lvl="1" eaLnBrk="1" hangingPunct="1"/>
            <a:r>
              <a:rPr lang="en-US" altLang="en-US" sz="1300">
                <a:latin typeface="Arial" panose="020B0604020202020204" pitchFamily="34" charset="0"/>
              </a:rPr>
              <a:t>Reversal of the scrambling protocol to make the message comprehensible.</a:t>
            </a:r>
          </a:p>
          <a:p>
            <a:pPr eaLnBrk="1" hangingPunct="1"/>
            <a:r>
              <a:rPr lang="en-US" altLang="en-US">
                <a:latin typeface="Arial" panose="020B0604020202020204" pitchFamily="34" charset="0"/>
              </a:rPr>
              <a:t>Encryption</a:t>
            </a:r>
          </a:p>
          <a:p>
            <a:pPr lvl="1" eaLnBrk="1" hangingPunct="1"/>
            <a:r>
              <a:rPr lang="en-US" altLang="en-US" sz="1300">
                <a:latin typeface="Arial" panose="020B0604020202020204" pitchFamily="34" charset="0"/>
              </a:rPr>
              <a:t>Plain text is scrambled according to a particular algorithm, agreed upon beforehand by sender and receiver.</a:t>
            </a:r>
          </a:p>
          <a:p>
            <a:pPr eaLnBrk="1" hangingPunct="1"/>
            <a:r>
              <a:rPr lang="en-US" altLang="en-US">
                <a:latin typeface="Arial" panose="020B0604020202020204" pitchFamily="34" charset="0"/>
              </a:rPr>
              <a:t>Without the correct protocol, the message is difficult to re-create.</a:t>
            </a:r>
          </a:p>
          <a:p>
            <a:pPr eaLnBrk="1" hangingPunct="1"/>
            <a:endParaRPr lang="en-US" altLang="en-US">
              <a:latin typeface="Arial" panose="020B0604020202020204" pitchFamily="34" charset="0"/>
            </a:endParaRPr>
          </a:p>
          <a:p>
            <a:pPr eaLnBrk="1" hangingPunct="1"/>
            <a:r>
              <a:rPr lang="en-US" altLang="en-US">
                <a:latin typeface="Arial" panose="020B0604020202020204" pitchFamily="34" charset="0"/>
              </a:rPr>
              <a:t>Plain text – key – cipher text – key – plain text.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a:extLst>
              <a:ext uri="{FF2B5EF4-FFF2-40B4-BE49-F238E27FC236}">
                <a16:creationId xmlns:a16="http://schemas.microsoft.com/office/drawing/2014/main" id="{9A5C8156-1CE2-43C3-9351-018F141D17B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CDE91ACE-9475-4436-BE4F-47ADB9600D44}" type="slidenum">
              <a:rPr lang="en-US" altLang="en-US" smtClean="0"/>
              <a:pPr>
                <a:spcBef>
                  <a:spcPct val="0"/>
                </a:spcBef>
              </a:pPr>
              <a:t>5</a:t>
            </a:fld>
            <a:endParaRPr lang="en-US" altLang="en-US"/>
          </a:p>
        </p:txBody>
      </p:sp>
      <p:sp>
        <p:nvSpPr>
          <p:cNvPr id="15363" name="Rectangle 2">
            <a:extLst>
              <a:ext uri="{FF2B5EF4-FFF2-40B4-BE49-F238E27FC236}">
                <a16:creationId xmlns:a16="http://schemas.microsoft.com/office/drawing/2014/main" id="{2E9378CB-4FA4-4D82-8C03-3300778CE960}"/>
              </a:ext>
            </a:extLst>
          </p:cNvPr>
          <p:cNvSpPr>
            <a:spLocks noGrp="1" noRot="1" noChangeAspect="1" noChangeArrowheads="1" noTextEdit="1"/>
          </p:cNvSpPr>
          <p:nvPr>
            <p:ph type="sldImg"/>
          </p:nvPr>
        </p:nvSpPr>
        <p:spPr>
          <a:ln/>
        </p:spPr>
      </p:sp>
      <p:sp>
        <p:nvSpPr>
          <p:cNvPr id="15364" name="Rectangle 3">
            <a:extLst>
              <a:ext uri="{FF2B5EF4-FFF2-40B4-BE49-F238E27FC236}">
                <a16:creationId xmlns:a16="http://schemas.microsoft.com/office/drawing/2014/main" id="{DEE6D036-AF69-4836-B514-217BB5E8650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As old as written communication and war</a:t>
            </a:r>
          </a:p>
          <a:p>
            <a:pPr eaLnBrk="1" hangingPunct="1"/>
            <a:r>
              <a:rPr lang="en-US" altLang="en-US">
                <a:latin typeface="Arial" panose="020B0604020202020204" pitchFamily="34" charset="0"/>
              </a:rPr>
              <a:t>Caesar Cipher</a:t>
            </a:r>
          </a:p>
          <a:p>
            <a:pPr lvl="1" eaLnBrk="1" hangingPunct="1"/>
            <a:r>
              <a:rPr lang="en-US" altLang="en-US" sz="1300">
                <a:latin typeface="Arial" panose="020B0604020202020204" pitchFamily="34" charset="0"/>
              </a:rPr>
              <a:t>Shift cipher – You decide the number of letters you shift over.</a:t>
            </a:r>
          </a:p>
          <a:p>
            <a:pPr lvl="2" eaLnBrk="1" hangingPunct="1"/>
            <a:r>
              <a:rPr lang="en-US" altLang="en-US" sz="1400">
                <a:latin typeface="Arial" panose="020B0604020202020204" pitchFamily="34" charset="0"/>
              </a:rPr>
              <a:t>A DOG</a:t>
            </a:r>
          </a:p>
          <a:p>
            <a:pPr lvl="3" eaLnBrk="1" hangingPunct="1"/>
            <a:r>
              <a:rPr lang="en-US" altLang="en-US" sz="1400">
                <a:latin typeface="Arial" panose="020B0604020202020204" pitchFamily="34" charset="0"/>
              </a:rPr>
              <a:t>Shift 1 – B EPH</a:t>
            </a:r>
          </a:p>
          <a:p>
            <a:pPr lvl="3" eaLnBrk="1" hangingPunct="1"/>
            <a:r>
              <a:rPr lang="en-US" altLang="en-US" sz="1400">
                <a:latin typeface="Arial" panose="020B0604020202020204" pitchFamily="34" charset="0"/>
              </a:rPr>
              <a:t>Shift 2 – C FQI</a:t>
            </a:r>
          </a:p>
          <a:p>
            <a:pPr lvl="3" eaLnBrk="1" hangingPunct="1"/>
            <a:r>
              <a:rPr lang="en-US" altLang="en-US" sz="1400">
                <a:latin typeface="Arial" panose="020B0604020202020204" pitchFamily="34" charset="0"/>
              </a:rPr>
              <a:t>Shift negative 1 – Z CNF</a:t>
            </a:r>
          </a:p>
          <a:p>
            <a:pPr eaLnBrk="1" hangingPunct="1"/>
            <a:endParaRPr lang="en-US" altLang="en-US">
              <a:latin typeface="Arial" panose="020B0604020202020204" pitchFamily="34" charset="0"/>
            </a:endParaRPr>
          </a:p>
          <a:p>
            <a:pPr eaLnBrk="1" hangingPunct="1"/>
            <a:r>
              <a:rPr lang="en-US" altLang="en-US">
                <a:latin typeface="Arial" panose="020B0604020202020204" pitchFamily="34" charset="0"/>
              </a:rPr>
              <a:t>The history of encryption and code is fascinating to read, but it is beyond the scope of this text. Check out the sites in the text or others on the web.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a:extLst>
              <a:ext uri="{FF2B5EF4-FFF2-40B4-BE49-F238E27FC236}">
                <a16:creationId xmlns:a16="http://schemas.microsoft.com/office/drawing/2014/main" id="{A6E49912-47E4-4F62-A3DA-B18E1A5F340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17F6B3CF-7781-48BB-92C5-B299C5BE5F7E}" type="slidenum">
              <a:rPr lang="en-US" altLang="en-US" smtClean="0"/>
              <a:pPr>
                <a:spcBef>
                  <a:spcPct val="0"/>
                </a:spcBef>
              </a:pPr>
              <a:t>6</a:t>
            </a:fld>
            <a:endParaRPr lang="en-US" altLang="en-US"/>
          </a:p>
        </p:txBody>
      </p:sp>
      <p:sp>
        <p:nvSpPr>
          <p:cNvPr id="19459" name="Rectangle 2">
            <a:extLst>
              <a:ext uri="{FF2B5EF4-FFF2-40B4-BE49-F238E27FC236}">
                <a16:creationId xmlns:a16="http://schemas.microsoft.com/office/drawing/2014/main" id="{F8EB2E48-D364-44F1-A21F-BA8DEA2E6D0B}"/>
              </a:ext>
            </a:extLst>
          </p:cNvPr>
          <p:cNvSpPr>
            <a:spLocks noGrp="1" noRot="1" noChangeAspect="1" noChangeArrowheads="1" noTextEdit="1"/>
          </p:cNvSpPr>
          <p:nvPr>
            <p:ph type="sldImg"/>
          </p:nvPr>
        </p:nvSpPr>
        <p:spPr>
          <a:ln/>
        </p:spPr>
      </p:sp>
      <p:sp>
        <p:nvSpPr>
          <p:cNvPr id="19460" name="Rectangle 3">
            <a:extLst>
              <a:ext uri="{FF2B5EF4-FFF2-40B4-BE49-F238E27FC236}">
                <a16:creationId xmlns:a16="http://schemas.microsoft.com/office/drawing/2014/main" id="{60FE7088-AA52-4C50-B441-63B624AF3F7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sz="1000">
                <a:latin typeface="Arial" panose="020B0604020202020204" pitchFamily="34" charset="0"/>
              </a:rPr>
              <a:t>Caesar Cipher</a:t>
            </a:r>
          </a:p>
          <a:p>
            <a:pPr lvl="1" eaLnBrk="1" hangingPunct="1"/>
            <a:r>
              <a:rPr lang="en-US" altLang="en-US" sz="1100">
                <a:latin typeface="Arial" panose="020B0604020202020204" pitchFamily="34" charset="0"/>
              </a:rPr>
              <a:t>Frequency distribution will crack this simple cipher.</a:t>
            </a:r>
          </a:p>
          <a:p>
            <a:pPr lvl="2" eaLnBrk="1" hangingPunct="1"/>
            <a:r>
              <a:rPr lang="en-US" altLang="en-US">
                <a:latin typeface="Arial" panose="020B0604020202020204" pitchFamily="34" charset="0"/>
              </a:rPr>
              <a:t>Most common letter in English is E and the most common three-letter word is THE.</a:t>
            </a:r>
          </a:p>
          <a:p>
            <a:pPr lvl="1" eaLnBrk="1" hangingPunct="1"/>
            <a:r>
              <a:rPr lang="en-US" altLang="en-US" sz="1100">
                <a:latin typeface="Arial" panose="020B0604020202020204" pitchFamily="34" charset="0"/>
              </a:rPr>
              <a:t>Substitution alphabet</a:t>
            </a:r>
          </a:p>
          <a:p>
            <a:pPr lvl="2" eaLnBrk="1" hangingPunct="1"/>
            <a:r>
              <a:rPr lang="en-US" altLang="en-US">
                <a:latin typeface="Arial" panose="020B0604020202020204" pitchFamily="34" charset="0"/>
              </a:rPr>
              <a:t>Substitutes one letter in the alphabet for another.</a:t>
            </a:r>
          </a:p>
          <a:p>
            <a:pPr lvl="2" eaLnBrk="1" hangingPunct="1"/>
            <a:r>
              <a:rPr lang="en-US" altLang="en-US">
                <a:latin typeface="Arial" panose="020B0604020202020204" pitchFamily="34" charset="0"/>
              </a:rPr>
              <a:t>Caesar is a mono-alphabetic cipher, using only one alphabet.</a:t>
            </a:r>
          </a:p>
          <a:p>
            <a:pPr eaLnBrk="1" hangingPunct="1"/>
            <a:endParaRPr lang="en-US" altLang="en-US" sz="1000">
              <a:latin typeface="Arial" panose="020B0604020202020204" pitchFamily="34" charset="0"/>
            </a:endParaRPr>
          </a:p>
          <a:p>
            <a:pPr eaLnBrk="1" hangingPunct="1"/>
            <a:r>
              <a:rPr lang="en-US" altLang="en-US" sz="1000">
                <a:latin typeface="Arial" panose="020B0604020202020204" pitchFamily="34" charset="0"/>
              </a:rPr>
              <a:t>ASIDE: Caesar needed to send messages to the far-flung posts at the ends of the Roman Empire. He would need security. He would write a message and then encrypt it with the now-famous Caesar 3 cipher. He would send for messengers. They would be extremely well paid, as they did not expect to return alive. Their heads would be shaved and the encrypted message tattooed on their heads. By the time they got to their destination, their hair had grown back and the message hidden. This is the first example we have of stenography. Also, they never saw the message and did not know what it was. After a successful mission and their heads were shaved, the message was decrypted. Because Caesar did not want the enemy to know how he used stenography or if they fell into enemy hands, we have the expression, “Kill the messenger.”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a:extLst>
              <a:ext uri="{FF2B5EF4-FFF2-40B4-BE49-F238E27FC236}">
                <a16:creationId xmlns:a16="http://schemas.microsoft.com/office/drawing/2014/main" id="{9B3473AB-4C96-4940-9141-5BD87585E75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C55DEC71-2ABD-461F-B273-3DA23BD0EEE7}" type="slidenum">
              <a:rPr lang="en-US" altLang="en-US" smtClean="0"/>
              <a:pPr>
                <a:spcBef>
                  <a:spcPct val="0"/>
                </a:spcBef>
              </a:pPr>
              <a:t>8</a:t>
            </a:fld>
            <a:endParaRPr lang="en-US" altLang="en-US"/>
          </a:p>
        </p:txBody>
      </p:sp>
      <p:sp>
        <p:nvSpPr>
          <p:cNvPr id="23555" name="Rectangle 2">
            <a:extLst>
              <a:ext uri="{FF2B5EF4-FFF2-40B4-BE49-F238E27FC236}">
                <a16:creationId xmlns:a16="http://schemas.microsoft.com/office/drawing/2014/main" id="{F71B83E8-028B-4445-8098-648FDE686614}"/>
              </a:ext>
            </a:extLst>
          </p:cNvPr>
          <p:cNvSpPr>
            <a:spLocks noGrp="1" noRot="1" noChangeAspect="1" noChangeArrowheads="1" noTextEdit="1"/>
          </p:cNvSpPr>
          <p:nvPr>
            <p:ph type="sldImg"/>
          </p:nvPr>
        </p:nvSpPr>
        <p:spPr>
          <a:ln/>
        </p:spPr>
      </p:sp>
      <p:sp>
        <p:nvSpPr>
          <p:cNvPr id="23556" name="Rectangle 3">
            <a:extLst>
              <a:ext uri="{FF2B5EF4-FFF2-40B4-BE49-F238E27FC236}">
                <a16:creationId xmlns:a16="http://schemas.microsoft.com/office/drawing/2014/main" id="{E68141E2-F1D9-4E06-9A20-6DDD68FD982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Binary Operations</a:t>
            </a:r>
          </a:p>
          <a:p>
            <a:pPr lvl="1" eaLnBrk="1" hangingPunct="1"/>
            <a:r>
              <a:rPr lang="en-US" altLang="en-US" sz="1300">
                <a:latin typeface="Arial" panose="020B0604020202020204" pitchFamily="34" charset="0"/>
              </a:rPr>
              <a:t>3 operations not found in decimal or base 10 math</a:t>
            </a:r>
            <a:endParaRPr lang="en-US" altLang="en-US" sz="1600">
              <a:latin typeface="Arial" panose="020B0604020202020204" pitchFamily="34" charset="0"/>
            </a:endParaRPr>
          </a:p>
          <a:p>
            <a:pPr lvl="3" eaLnBrk="1" hangingPunct="1"/>
            <a:endParaRPr lang="en-US" altLang="en-US" sz="1600">
              <a:latin typeface="Arial" panose="020B0604020202020204" pitchFamily="34" charset="0"/>
            </a:endParaRPr>
          </a:p>
          <a:p>
            <a:pPr lvl="1" eaLnBrk="1" hangingPunct="1"/>
            <a:r>
              <a:rPr lang="en-US" altLang="en-US" sz="1600">
                <a:latin typeface="Arial" panose="020B0604020202020204" pitchFamily="34" charset="0"/>
              </a:rPr>
              <a:t>In comparing binary numbers in the AND operation, compare them one place at a time. If both places have a 1 in them, the result is a 1. If one or both of them are a 0, the result is a 0.</a:t>
            </a:r>
          </a:p>
          <a:p>
            <a:pPr eaLnBrk="1" hangingPunct="1"/>
            <a:endParaRPr lang="en-US" altLang="en-US">
              <a:latin typeface="Arial" panose="020B0604020202020204" pitchFamily="34" charset="0"/>
            </a:endParaRPr>
          </a:p>
        </p:txBody>
      </p:sp>
      <p:graphicFrame>
        <p:nvGraphicFramePr>
          <p:cNvPr id="429060" name="Group 4">
            <a:extLst>
              <a:ext uri="{FF2B5EF4-FFF2-40B4-BE49-F238E27FC236}">
                <a16:creationId xmlns:a16="http://schemas.microsoft.com/office/drawing/2014/main" id="{6174C4C3-0066-4344-BD79-9BB1C14A5E7D}"/>
              </a:ext>
            </a:extLst>
          </p:cNvPr>
          <p:cNvGraphicFramePr>
            <a:graphicFrameLocks noGrp="1"/>
          </p:cNvGraphicFramePr>
          <p:nvPr/>
        </p:nvGraphicFramePr>
        <p:xfrm>
          <a:off x="2286000" y="4953000"/>
          <a:ext cx="2362200" cy="1219200"/>
        </p:xfrm>
        <a:graphic>
          <a:graphicData uri="http://schemas.openxmlformats.org/drawingml/2006/table">
            <a:tbl>
              <a:tblPr/>
              <a:tblGrid>
                <a:gridCol w="590550">
                  <a:extLst>
                    <a:ext uri="{9D8B030D-6E8A-4147-A177-3AD203B41FA5}">
                      <a16:colId xmlns:a16="http://schemas.microsoft.com/office/drawing/2014/main" val="20000"/>
                    </a:ext>
                  </a:extLst>
                </a:gridCol>
                <a:gridCol w="590550">
                  <a:extLst>
                    <a:ext uri="{9D8B030D-6E8A-4147-A177-3AD203B41FA5}">
                      <a16:colId xmlns:a16="http://schemas.microsoft.com/office/drawing/2014/main" val="20001"/>
                    </a:ext>
                  </a:extLst>
                </a:gridCol>
                <a:gridCol w="590550">
                  <a:extLst>
                    <a:ext uri="{9D8B030D-6E8A-4147-A177-3AD203B41FA5}">
                      <a16:colId xmlns:a16="http://schemas.microsoft.com/office/drawing/2014/main" val="20002"/>
                    </a:ext>
                  </a:extLst>
                </a:gridCol>
                <a:gridCol w="590550">
                  <a:extLst>
                    <a:ext uri="{9D8B030D-6E8A-4147-A177-3AD203B41FA5}">
                      <a16:colId xmlns:a16="http://schemas.microsoft.com/office/drawing/2014/main" val="20003"/>
                    </a:ext>
                  </a:extLst>
                </a:gridCol>
              </a:tblGrid>
              <a:tr h="4064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0</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4064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0</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0</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64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0</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0</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2000" b="1" i="0" u="none" strike="noStrike" cap="none" normalizeH="0" baseline="0">
                          <a:ln>
                            <a:noFill/>
                          </a:ln>
                          <a:solidFill>
                            <a:schemeClr val="accent1"/>
                          </a:solidFill>
                          <a:effectLst/>
                          <a:latin typeface="Arial" charset="0"/>
                          <a:cs typeface="Arial" charset="0"/>
                        </a:rPr>
                        <a:t>1</a:t>
                      </a:r>
                      <a:endParaRPr kumimoji="0" lang="en-US" sz="2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2"/>
                  </a:ext>
                </a:extLst>
              </a:tr>
            </a:tbl>
          </a:graphicData>
        </a:graphic>
      </p:graphicFrame>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a:extLst>
              <a:ext uri="{FF2B5EF4-FFF2-40B4-BE49-F238E27FC236}">
                <a16:creationId xmlns:a16="http://schemas.microsoft.com/office/drawing/2014/main" id="{AE39BB62-2337-4374-9280-185FAD0FA33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5204A644-FAF5-492C-BC24-66B322AEA200}" type="slidenum">
              <a:rPr lang="en-US" altLang="en-US" smtClean="0"/>
              <a:pPr>
                <a:spcBef>
                  <a:spcPct val="0"/>
                </a:spcBef>
              </a:pPr>
              <a:t>9</a:t>
            </a:fld>
            <a:endParaRPr lang="en-US" altLang="en-US"/>
          </a:p>
        </p:txBody>
      </p:sp>
      <p:sp>
        <p:nvSpPr>
          <p:cNvPr id="25603" name="Rectangle 2">
            <a:extLst>
              <a:ext uri="{FF2B5EF4-FFF2-40B4-BE49-F238E27FC236}">
                <a16:creationId xmlns:a16="http://schemas.microsoft.com/office/drawing/2014/main" id="{E3C8AD60-C9B0-449F-BC93-521043AB342C}"/>
              </a:ext>
            </a:extLst>
          </p:cNvPr>
          <p:cNvSpPr>
            <a:spLocks noGrp="1" noRot="1" noChangeAspect="1" noChangeArrowheads="1" noTextEdit="1"/>
          </p:cNvSpPr>
          <p:nvPr>
            <p:ph type="sldImg"/>
          </p:nvPr>
        </p:nvSpPr>
        <p:spPr>
          <a:ln/>
        </p:spPr>
      </p:sp>
      <p:sp>
        <p:nvSpPr>
          <p:cNvPr id="25604" name="Rectangle 3">
            <a:extLst>
              <a:ext uri="{FF2B5EF4-FFF2-40B4-BE49-F238E27FC236}">
                <a16:creationId xmlns:a16="http://schemas.microsoft.com/office/drawing/2014/main" id="{4B864BEF-3DF7-4644-9721-E622F92664D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Binary Operations</a:t>
            </a:r>
          </a:p>
          <a:p>
            <a:pPr lvl="2" eaLnBrk="1" hangingPunct="1"/>
            <a:r>
              <a:rPr lang="en-US" altLang="en-US" sz="1500">
                <a:latin typeface="Arial" panose="020B0604020202020204" pitchFamily="34" charset="0"/>
              </a:rPr>
              <a:t>OR</a:t>
            </a:r>
            <a:endParaRPr lang="en-US" altLang="en-US" sz="1400">
              <a:latin typeface="Arial" panose="020B0604020202020204" pitchFamily="34" charset="0"/>
            </a:endParaRPr>
          </a:p>
          <a:p>
            <a:pPr eaLnBrk="1" hangingPunct="1"/>
            <a:r>
              <a:rPr lang="en-US" altLang="en-US" sz="1400">
                <a:latin typeface="Arial" panose="020B0604020202020204" pitchFamily="34" charset="0"/>
              </a:rPr>
              <a:t>In comparing binary numbers in the OR operation, compare them one place at a time. If one or both of them are a 1, the result is a 1. If not, the result is a 0.</a:t>
            </a:r>
          </a:p>
          <a:p>
            <a:pPr eaLnBrk="1" hangingPunct="1"/>
            <a:endParaRPr lang="en-US" altLang="en-US">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a:extLst>
              <a:ext uri="{FF2B5EF4-FFF2-40B4-BE49-F238E27FC236}">
                <a16:creationId xmlns:a16="http://schemas.microsoft.com/office/drawing/2014/main" id="{B1FBB079-F45D-4C90-BC8F-7F5B0864447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901B5ADC-31DA-43BD-BA2F-50D0D4890EB0}" type="slidenum">
              <a:rPr lang="en-US" altLang="en-US" smtClean="0"/>
              <a:pPr>
                <a:spcBef>
                  <a:spcPct val="0"/>
                </a:spcBef>
              </a:pPr>
              <a:t>10</a:t>
            </a:fld>
            <a:endParaRPr lang="en-US" altLang="en-US"/>
          </a:p>
        </p:txBody>
      </p:sp>
      <p:sp>
        <p:nvSpPr>
          <p:cNvPr id="27651" name="Rectangle 2">
            <a:extLst>
              <a:ext uri="{FF2B5EF4-FFF2-40B4-BE49-F238E27FC236}">
                <a16:creationId xmlns:a16="http://schemas.microsoft.com/office/drawing/2014/main" id="{1005C0B7-DC0F-424A-A91A-0F85B3BAE4F3}"/>
              </a:ext>
            </a:extLst>
          </p:cNvPr>
          <p:cNvSpPr>
            <a:spLocks noGrp="1" noRot="1" noChangeAspect="1" noChangeArrowheads="1" noTextEdit="1"/>
          </p:cNvSpPr>
          <p:nvPr>
            <p:ph type="sldImg"/>
          </p:nvPr>
        </p:nvSpPr>
        <p:spPr>
          <a:ln/>
        </p:spPr>
      </p:sp>
      <p:sp>
        <p:nvSpPr>
          <p:cNvPr id="27652" name="Rectangle 3">
            <a:extLst>
              <a:ext uri="{FF2B5EF4-FFF2-40B4-BE49-F238E27FC236}">
                <a16:creationId xmlns:a16="http://schemas.microsoft.com/office/drawing/2014/main" id="{40563428-D091-423E-85E5-433A53524D2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Binary Operations</a:t>
            </a:r>
          </a:p>
          <a:p>
            <a:pPr eaLnBrk="1" hangingPunct="1"/>
            <a:endParaRPr lang="en-US" altLang="en-US" sz="1400">
              <a:latin typeface="Arial" panose="020B0604020202020204" pitchFamily="34" charset="0"/>
            </a:endParaRPr>
          </a:p>
          <a:p>
            <a:pPr eaLnBrk="1" hangingPunct="1"/>
            <a:r>
              <a:rPr lang="en-US" altLang="en-US" sz="1400">
                <a:latin typeface="Arial" panose="020B0604020202020204" pitchFamily="34" charset="0"/>
              </a:rPr>
              <a:t>In comparing binary numbers in the XOR operation, compare them one place at a time.  If one of them, but NOT both of them, is a 1, the result is a 1. If not, the result is a 0.</a:t>
            </a:r>
          </a:p>
          <a:p>
            <a:pPr lvl="2" eaLnBrk="1" hangingPunct="1"/>
            <a:endParaRPr lang="en-US" altLang="en-US" sz="1400">
              <a:latin typeface="Arial" panose="020B0604020202020204" pitchFamily="34" charset="0"/>
            </a:endParaRPr>
          </a:p>
          <a:p>
            <a:pPr eaLnBrk="1" hangingPunct="1"/>
            <a:endParaRPr lang="en-US" altLang="en-US">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a:extLst>
              <a:ext uri="{FF2B5EF4-FFF2-40B4-BE49-F238E27FC236}">
                <a16:creationId xmlns:a16="http://schemas.microsoft.com/office/drawing/2014/main" id="{5747CA2A-3F93-46C2-93ED-F75D5546EEE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03EDA1EA-91F8-4C1C-A880-49580FAEA70A}" type="slidenum">
              <a:rPr lang="en-US" altLang="en-US" smtClean="0"/>
              <a:pPr>
                <a:spcBef>
                  <a:spcPct val="0"/>
                </a:spcBef>
              </a:pPr>
              <a:t>11</a:t>
            </a:fld>
            <a:endParaRPr lang="en-US" altLang="en-US"/>
          </a:p>
        </p:txBody>
      </p:sp>
      <p:sp>
        <p:nvSpPr>
          <p:cNvPr id="29699" name="Rectangle 2">
            <a:extLst>
              <a:ext uri="{FF2B5EF4-FFF2-40B4-BE49-F238E27FC236}">
                <a16:creationId xmlns:a16="http://schemas.microsoft.com/office/drawing/2014/main" id="{5B2584DB-66EB-43D5-99CD-BFC6044B4D02}"/>
              </a:ext>
            </a:extLst>
          </p:cNvPr>
          <p:cNvSpPr>
            <a:spLocks noGrp="1" noRot="1" noChangeAspect="1" noChangeArrowheads="1" noTextEdit="1"/>
          </p:cNvSpPr>
          <p:nvPr>
            <p:ph type="sldImg"/>
          </p:nvPr>
        </p:nvSpPr>
        <p:spPr>
          <a:ln/>
        </p:spPr>
      </p:sp>
      <p:sp>
        <p:nvSpPr>
          <p:cNvPr id="29700" name="Rectangle 3">
            <a:extLst>
              <a:ext uri="{FF2B5EF4-FFF2-40B4-BE49-F238E27FC236}">
                <a16:creationId xmlns:a16="http://schemas.microsoft.com/office/drawing/2014/main" id="{5694F97E-24AD-4ED4-A46A-979BE078545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XOR</a:t>
            </a:r>
          </a:p>
          <a:p>
            <a:pPr lvl="1" eaLnBrk="1" hangingPunct="1"/>
            <a:r>
              <a:rPr lang="en-US" altLang="en-US" sz="1300">
                <a:latin typeface="Arial" panose="020B0604020202020204" pitchFamily="34" charset="0"/>
              </a:rPr>
              <a:t>The only reversible binary operation </a:t>
            </a:r>
          </a:p>
          <a:p>
            <a:pPr lvl="1" eaLnBrk="1" hangingPunct="1"/>
            <a:r>
              <a:rPr lang="en-US" altLang="en-US" sz="1300">
                <a:latin typeface="Arial" panose="020B0604020202020204" pitchFamily="34" charset="0"/>
              </a:rPr>
              <a:t>First, convert plain text to ASCII</a:t>
            </a:r>
          </a:p>
          <a:p>
            <a:pPr lvl="2" eaLnBrk="1" hangingPunct="1"/>
            <a:r>
              <a:rPr lang="en-US" altLang="en-US" sz="1400">
                <a:latin typeface="Arial" panose="020B0604020202020204" pitchFamily="34" charset="0"/>
              </a:rPr>
              <a:t>A DOG = 065 032 068 079 071</a:t>
            </a:r>
          </a:p>
          <a:p>
            <a:pPr lvl="1" eaLnBrk="1" hangingPunct="1"/>
            <a:r>
              <a:rPr lang="en-US" altLang="en-US" sz="1300">
                <a:latin typeface="Arial" panose="020B0604020202020204" pitchFamily="34" charset="0"/>
              </a:rPr>
              <a:t>Then, convert ASCII to binary</a:t>
            </a:r>
          </a:p>
          <a:p>
            <a:pPr lvl="2" eaLnBrk="1" hangingPunct="1"/>
            <a:r>
              <a:rPr lang="en-US" altLang="en-US" sz="1400">
                <a:latin typeface="Arial" panose="020B0604020202020204" pitchFamily="34" charset="0"/>
              </a:rPr>
              <a:t>0100 0001, 0100 0100, 0100 1111, 0100 0111</a:t>
            </a:r>
          </a:p>
          <a:p>
            <a:pPr eaLnBrk="1" hangingPunct="1"/>
            <a:endParaRPr lang="en-US" altLang="en-US">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a:extLst>
              <a:ext uri="{FF2B5EF4-FFF2-40B4-BE49-F238E27FC236}">
                <a16:creationId xmlns:a16="http://schemas.microsoft.com/office/drawing/2014/main" id="{3CD58D00-009B-46C0-87F6-8B08CE40E89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C23304CA-14F3-44E6-A80F-5DE04B088114}" type="slidenum">
              <a:rPr lang="en-US" altLang="en-US" smtClean="0"/>
              <a:pPr>
                <a:spcBef>
                  <a:spcPct val="0"/>
                </a:spcBef>
              </a:pPr>
              <a:t>12</a:t>
            </a:fld>
            <a:endParaRPr lang="en-US" altLang="en-US"/>
          </a:p>
        </p:txBody>
      </p:sp>
      <p:sp>
        <p:nvSpPr>
          <p:cNvPr id="31747" name="Rectangle 2">
            <a:extLst>
              <a:ext uri="{FF2B5EF4-FFF2-40B4-BE49-F238E27FC236}">
                <a16:creationId xmlns:a16="http://schemas.microsoft.com/office/drawing/2014/main" id="{978686EA-3AD2-4B32-BA9C-DEEFABBBD05E}"/>
              </a:ext>
            </a:extLst>
          </p:cNvPr>
          <p:cNvSpPr>
            <a:spLocks noGrp="1" noRot="1" noChangeAspect="1" noChangeArrowheads="1" noTextEdit="1"/>
          </p:cNvSpPr>
          <p:nvPr>
            <p:ph type="sldImg"/>
          </p:nvPr>
        </p:nvSpPr>
        <p:spPr>
          <a:ln/>
        </p:spPr>
      </p:sp>
      <p:sp>
        <p:nvSpPr>
          <p:cNvPr id="31748" name="Rectangle 3">
            <a:extLst>
              <a:ext uri="{FF2B5EF4-FFF2-40B4-BE49-F238E27FC236}">
                <a16:creationId xmlns:a16="http://schemas.microsoft.com/office/drawing/2014/main" id="{265AC78D-0506-4B14-9EC6-D7A0499864B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lvl="1" eaLnBrk="1" hangingPunct="1"/>
            <a:r>
              <a:rPr lang="en-US" altLang="en-US" sz="1300">
                <a:latin typeface="Arial" panose="020B0604020202020204" pitchFamily="34" charset="0"/>
              </a:rPr>
              <a:t>Then, using any random, previously agreed upon string as the key, XOR the ASCII</a:t>
            </a:r>
          </a:p>
          <a:p>
            <a:pPr lvl="2" eaLnBrk="1" hangingPunct="1"/>
            <a:r>
              <a:rPr lang="en-US" altLang="en-US" sz="1400">
                <a:latin typeface="Arial" panose="020B0604020202020204" pitchFamily="34" charset="0"/>
              </a:rPr>
              <a:t>0100 0001, 0100 0100, 0100 1111, 0100 0111</a:t>
            </a:r>
          </a:p>
          <a:p>
            <a:pPr lvl="2" eaLnBrk="1" hangingPunct="1"/>
            <a:r>
              <a:rPr lang="en-US" altLang="en-US" sz="1400" u="sng">
                <a:latin typeface="Arial" panose="020B0604020202020204" pitchFamily="34" charset="0"/>
              </a:rPr>
              <a:t>1111 0111, 1111 0111, 1111 0111, 1111 0111</a:t>
            </a:r>
          </a:p>
          <a:p>
            <a:pPr lvl="2" eaLnBrk="1" hangingPunct="1"/>
            <a:r>
              <a:rPr lang="en-US" altLang="en-US" sz="1400">
                <a:latin typeface="Arial" panose="020B0604020202020204" pitchFamily="34" charset="0"/>
              </a:rPr>
              <a:t>1011 0110, 1011 0011, 1011 1000, 1011 0000</a:t>
            </a:r>
          </a:p>
          <a:p>
            <a:pPr lvl="1" eaLnBrk="1" hangingPunct="1"/>
            <a:r>
              <a:rPr lang="en-US" altLang="en-US" sz="1300">
                <a:latin typeface="Arial" panose="020B0604020202020204" pitchFamily="34" charset="0"/>
              </a:rPr>
              <a:t>The result is the cipher text, which can be decrypted using the agreed upon key and the XOR operation, then converted back to ASCII</a:t>
            </a:r>
          </a:p>
          <a:p>
            <a:pPr lvl="1" eaLnBrk="1" hangingPunct="1"/>
            <a:r>
              <a:rPr lang="en-US" altLang="en-US" sz="1300">
                <a:latin typeface="Arial" panose="020B0604020202020204" pitchFamily="34" charset="0"/>
              </a:rPr>
              <a:t>Uses single-key encryption</a:t>
            </a:r>
          </a:p>
          <a:p>
            <a:pPr lvl="2" eaLnBrk="1" hangingPunct="1"/>
            <a:r>
              <a:rPr lang="en-US" altLang="en-US" sz="1400">
                <a:latin typeface="Arial" panose="020B0604020202020204" pitchFamily="34" charset="0"/>
              </a:rPr>
              <a:t>Both sender and receiver use the same key – weak</a:t>
            </a:r>
          </a:p>
          <a:p>
            <a:pPr lvl="1" eaLnBrk="1" hangingPunct="1"/>
            <a:r>
              <a:rPr lang="en-US" altLang="en-US" sz="1300">
                <a:latin typeface="Arial" panose="020B0604020202020204" pitchFamily="34" charset="0"/>
              </a:rPr>
              <a:t>Uses mono-alphabetic substitution</a:t>
            </a:r>
          </a:p>
          <a:p>
            <a:pPr lvl="2" eaLnBrk="1" hangingPunct="1"/>
            <a:r>
              <a:rPr lang="en-US" altLang="en-US" sz="1400">
                <a:latin typeface="Arial" panose="020B0604020202020204" pitchFamily="34" charset="0"/>
              </a:rPr>
              <a:t>Subject to frequency distribution attack – weak</a:t>
            </a:r>
          </a:p>
          <a:p>
            <a:pPr lvl="1" eaLnBrk="1" hangingPunct="1"/>
            <a:r>
              <a:rPr lang="en-US" altLang="en-US" sz="1300">
                <a:latin typeface="Arial" panose="020B0604020202020204" pitchFamily="34" charset="0"/>
              </a:rPr>
              <a:t>Excellent introduction to contemporary encryption</a:t>
            </a:r>
            <a:endParaRPr lang="en-US" altLang="en-US" sz="1400">
              <a:latin typeface="Arial" panose="020B0604020202020204" pitchFamily="34" charset="0"/>
            </a:endParaRPr>
          </a:p>
          <a:p>
            <a:pPr lvl="1" eaLnBrk="1" hangingPunct="1"/>
            <a:endParaRPr lang="en-US" altLang="en-US" sz="1300">
              <a:latin typeface="Arial" panose="020B0604020202020204" pitchFamily="34" charset="0"/>
            </a:endParaRPr>
          </a:p>
          <a:p>
            <a:pPr eaLnBrk="1" hangingPunct="1"/>
            <a:endParaRPr lang="en-US" altLang="en-US">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a:extLst>
              <a:ext uri="{FF2B5EF4-FFF2-40B4-BE49-F238E27FC236}">
                <a16:creationId xmlns:a16="http://schemas.microsoft.com/office/drawing/2014/main" id="{0E5BBE3E-1B69-465E-9C29-C40C1A0240E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67FD0DD9-2678-46CC-A8DE-D61D7511754E}" type="slidenum">
              <a:rPr lang="en-US" altLang="en-US" smtClean="0"/>
              <a:pPr>
                <a:spcBef>
                  <a:spcPct val="0"/>
                </a:spcBef>
              </a:pPr>
              <a:t>13</a:t>
            </a:fld>
            <a:endParaRPr lang="en-US" altLang="en-US"/>
          </a:p>
        </p:txBody>
      </p:sp>
      <p:sp>
        <p:nvSpPr>
          <p:cNvPr id="33795" name="Rectangle 2">
            <a:extLst>
              <a:ext uri="{FF2B5EF4-FFF2-40B4-BE49-F238E27FC236}">
                <a16:creationId xmlns:a16="http://schemas.microsoft.com/office/drawing/2014/main" id="{9C66AC0C-4CAB-4034-AD39-0FAFE65A9D5A}"/>
              </a:ext>
            </a:extLst>
          </p:cNvPr>
          <p:cNvSpPr>
            <a:spLocks noGrp="1" noRot="1" noChangeAspect="1" noChangeArrowheads="1" noTextEdit="1"/>
          </p:cNvSpPr>
          <p:nvPr>
            <p:ph type="sldImg"/>
          </p:nvPr>
        </p:nvSpPr>
        <p:spPr>
          <a:ln/>
        </p:spPr>
      </p:sp>
      <p:sp>
        <p:nvSpPr>
          <p:cNvPr id="33796" name="Rectangle 3">
            <a:extLst>
              <a:ext uri="{FF2B5EF4-FFF2-40B4-BE49-F238E27FC236}">
                <a16:creationId xmlns:a16="http://schemas.microsoft.com/office/drawing/2014/main" id="{1165CB50-C0BC-4D32-89C4-75B1E5BB778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lvl="1" eaLnBrk="1" hangingPunct="1"/>
            <a:r>
              <a:rPr lang="en-US" altLang="en-US" sz="1300">
                <a:latin typeface="Arial" panose="020B0604020202020204" pitchFamily="34" charset="0"/>
              </a:rPr>
              <a:t>Then, using any random, previously agreed upon string as the key, XOR the ASCII</a:t>
            </a:r>
          </a:p>
          <a:p>
            <a:pPr lvl="2" eaLnBrk="1" hangingPunct="1"/>
            <a:r>
              <a:rPr lang="en-US" altLang="en-US" sz="1400">
                <a:latin typeface="Arial" panose="020B0604020202020204" pitchFamily="34" charset="0"/>
              </a:rPr>
              <a:t>0100 0001, 0100 0100, 0100 1111, 0100 0111</a:t>
            </a:r>
          </a:p>
          <a:p>
            <a:pPr lvl="2" eaLnBrk="1" hangingPunct="1"/>
            <a:r>
              <a:rPr lang="en-US" altLang="en-US" sz="1400" u="sng">
                <a:latin typeface="Arial" panose="020B0604020202020204" pitchFamily="34" charset="0"/>
              </a:rPr>
              <a:t>1111 0111, 1111 0111, 1111 0111, 1111 0111</a:t>
            </a:r>
          </a:p>
          <a:p>
            <a:pPr lvl="2" eaLnBrk="1" hangingPunct="1"/>
            <a:r>
              <a:rPr lang="en-US" altLang="en-US" sz="1400">
                <a:latin typeface="Arial" panose="020B0604020202020204" pitchFamily="34" charset="0"/>
              </a:rPr>
              <a:t>1011 0110, 1011 0011, 1011 1000, 1011 0000</a:t>
            </a:r>
          </a:p>
          <a:p>
            <a:pPr lvl="1" eaLnBrk="1" hangingPunct="1"/>
            <a:r>
              <a:rPr lang="en-US" altLang="en-US" sz="1300">
                <a:latin typeface="Arial" panose="020B0604020202020204" pitchFamily="34" charset="0"/>
              </a:rPr>
              <a:t>The result is the cipher text, which can be decrypted using the agreed upon key and the XOR operation, then converted back to ASCII.</a:t>
            </a:r>
          </a:p>
          <a:p>
            <a:pPr lvl="1" eaLnBrk="1" hangingPunct="1"/>
            <a:r>
              <a:rPr lang="en-US" altLang="en-US" sz="1300">
                <a:latin typeface="Arial" panose="020B0604020202020204" pitchFamily="34" charset="0"/>
              </a:rPr>
              <a:t>Uses single-key encryption</a:t>
            </a:r>
          </a:p>
          <a:p>
            <a:pPr lvl="2" eaLnBrk="1" hangingPunct="1"/>
            <a:r>
              <a:rPr lang="en-US" altLang="en-US" sz="1400">
                <a:latin typeface="Arial" panose="020B0604020202020204" pitchFamily="34" charset="0"/>
              </a:rPr>
              <a:t>Both sender and receiver use the same key – weak</a:t>
            </a:r>
          </a:p>
          <a:p>
            <a:pPr lvl="1" eaLnBrk="1" hangingPunct="1"/>
            <a:r>
              <a:rPr lang="en-US" altLang="en-US" sz="1300">
                <a:latin typeface="Arial" panose="020B0604020202020204" pitchFamily="34" charset="0"/>
              </a:rPr>
              <a:t>Uses mono-alphabetic substitution</a:t>
            </a:r>
          </a:p>
          <a:p>
            <a:pPr lvl="2" eaLnBrk="1" hangingPunct="1"/>
            <a:r>
              <a:rPr lang="en-US" altLang="en-US" sz="1400">
                <a:latin typeface="Arial" panose="020B0604020202020204" pitchFamily="34" charset="0"/>
              </a:rPr>
              <a:t>Subject to frequency distribution attack – weak</a:t>
            </a:r>
          </a:p>
          <a:p>
            <a:pPr lvl="1" eaLnBrk="1" hangingPunct="1"/>
            <a:r>
              <a:rPr lang="en-US" altLang="en-US" sz="1300">
                <a:latin typeface="Arial" panose="020B0604020202020204" pitchFamily="34" charset="0"/>
              </a:rPr>
              <a:t>Excellent introduction to contemporary encryption</a:t>
            </a:r>
            <a:endParaRPr lang="en-US" altLang="en-US" sz="1400">
              <a:latin typeface="Arial" panose="020B0604020202020204" pitchFamily="34" charset="0"/>
            </a:endParaRPr>
          </a:p>
          <a:p>
            <a:pPr lvl="1" eaLnBrk="1" hangingPunct="1"/>
            <a:endParaRPr lang="en-US" altLang="en-US" sz="1300">
              <a:latin typeface="Arial" panose="020B0604020202020204" pitchFamily="34" charset="0"/>
            </a:endParaRPr>
          </a:p>
          <a:p>
            <a:pPr eaLnBrk="1" hangingPunct="1"/>
            <a:endParaRPr lang="en-US" altLang="en-US">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a:extLst>
              <a:ext uri="{FF2B5EF4-FFF2-40B4-BE49-F238E27FC236}">
                <a16:creationId xmlns:a16="http://schemas.microsoft.com/office/drawing/2014/main" id="{4A5F9923-E7C0-4C2E-BCE0-572D413BBC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FC6BD9DD-B120-4F7B-9776-B30EC18745F8}" type="slidenum">
              <a:rPr lang="en-US" altLang="en-US" smtClean="0"/>
              <a:pPr>
                <a:spcBef>
                  <a:spcPct val="0"/>
                </a:spcBef>
              </a:pPr>
              <a:t>14</a:t>
            </a:fld>
            <a:endParaRPr lang="en-US" altLang="en-US"/>
          </a:p>
        </p:txBody>
      </p:sp>
      <p:sp>
        <p:nvSpPr>
          <p:cNvPr id="35843" name="Rectangle 2">
            <a:extLst>
              <a:ext uri="{FF2B5EF4-FFF2-40B4-BE49-F238E27FC236}">
                <a16:creationId xmlns:a16="http://schemas.microsoft.com/office/drawing/2014/main" id="{2B71C9AC-4100-49D7-983F-4218C0132B5A}"/>
              </a:ext>
            </a:extLst>
          </p:cNvPr>
          <p:cNvSpPr>
            <a:spLocks noGrp="1" noRot="1" noChangeAspect="1" noChangeArrowheads="1" noTextEdit="1"/>
          </p:cNvSpPr>
          <p:nvPr>
            <p:ph type="sldImg"/>
          </p:nvPr>
        </p:nvSpPr>
        <p:spPr>
          <a:ln/>
        </p:spPr>
      </p:sp>
      <p:sp>
        <p:nvSpPr>
          <p:cNvPr id="35844" name="Rectangle 3">
            <a:extLst>
              <a:ext uri="{FF2B5EF4-FFF2-40B4-BE49-F238E27FC236}">
                <a16:creationId xmlns:a16="http://schemas.microsoft.com/office/drawing/2014/main" id="{3FC40714-6F42-4229-9311-8E3A235C1E9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Single (symmetric) encryption</a:t>
            </a:r>
          </a:p>
          <a:p>
            <a:pPr lvl="1" eaLnBrk="1" hangingPunct="1"/>
            <a:r>
              <a:rPr lang="en-US" altLang="en-US" sz="1300">
                <a:latin typeface="Arial" panose="020B0604020202020204" pitchFamily="34" charset="0"/>
              </a:rPr>
              <a:t>Uses the same key to encrypt and decrypt</a:t>
            </a:r>
          </a:p>
          <a:p>
            <a:pPr lvl="2" eaLnBrk="1" hangingPunct="1"/>
            <a:r>
              <a:rPr lang="en-US" altLang="en-US" sz="1400">
                <a:latin typeface="Arial" panose="020B0604020202020204" pitchFamily="34" charset="0"/>
              </a:rPr>
              <a:t>Blowfish</a:t>
            </a:r>
          </a:p>
          <a:p>
            <a:pPr lvl="3" eaLnBrk="1" hangingPunct="1"/>
            <a:r>
              <a:rPr lang="en-US" altLang="en-US" sz="1400">
                <a:latin typeface="Arial" panose="020B0604020202020204" pitchFamily="34" charset="0"/>
              </a:rPr>
              <a:t>Symmetric block cipher</a:t>
            </a:r>
          </a:p>
          <a:p>
            <a:pPr lvl="3" eaLnBrk="1" hangingPunct="1"/>
            <a:r>
              <a:rPr lang="en-US" altLang="en-US" sz="1400">
                <a:latin typeface="Arial" panose="020B0604020202020204" pitchFamily="34" charset="0"/>
              </a:rPr>
              <a:t>Works on “blocks” of letters</a:t>
            </a:r>
          </a:p>
          <a:p>
            <a:pPr lvl="3" eaLnBrk="1" hangingPunct="1"/>
            <a:r>
              <a:rPr lang="en-US" altLang="en-US" sz="1400">
                <a:latin typeface="Arial" panose="020B0604020202020204" pitchFamily="34" charset="0"/>
              </a:rPr>
              <a:t>Uses variable length key (32–448 bits)</a:t>
            </a:r>
          </a:p>
          <a:p>
            <a:pPr lvl="3" eaLnBrk="1" hangingPunct="1"/>
            <a:r>
              <a:rPr lang="en-US" altLang="en-US" sz="1400">
                <a:latin typeface="Arial" panose="020B0604020202020204" pitchFamily="34" charset="0"/>
              </a:rPr>
              <a:t>Bruce Schneier – 1993</a:t>
            </a:r>
          </a:p>
          <a:p>
            <a:pPr lvl="3" eaLnBrk="1" hangingPunct="1"/>
            <a:r>
              <a:rPr lang="en-US" altLang="en-US" sz="1400">
                <a:latin typeface="Arial" panose="020B0604020202020204" pitchFamily="34" charset="0"/>
              </a:rPr>
              <a:t>Freeware</a:t>
            </a:r>
          </a:p>
          <a:p>
            <a:pPr eaLnBrk="1" hangingPunct="1"/>
            <a:endParaRPr lang="en-US" altLang="en-US">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a:extLst>
              <a:ext uri="{FF2B5EF4-FFF2-40B4-BE49-F238E27FC236}">
                <a16:creationId xmlns:a16="http://schemas.microsoft.com/office/drawing/2014/main" id="{02143BFD-CF52-4683-96DE-A9B0B9E1D6B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FB190413-EFDC-4B7E-8EBD-746AC91BF7C5}" type="slidenum">
              <a:rPr lang="en-US" altLang="en-US" smtClean="0"/>
              <a:pPr>
                <a:spcBef>
                  <a:spcPct val="0"/>
                </a:spcBef>
              </a:pPr>
              <a:t>15</a:t>
            </a:fld>
            <a:endParaRPr lang="en-US" altLang="en-US"/>
          </a:p>
        </p:txBody>
      </p:sp>
      <p:sp>
        <p:nvSpPr>
          <p:cNvPr id="37891" name="Rectangle 2">
            <a:extLst>
              <a:ext uri="{FF2B5EF4-FFF2-40B4-BE49-F238E27FC236}">
                <a16:creationId xmlns:a16="http://schemas.microsoft.com/office/drawing/2014/main" id="{54D137E9-2208-4415-9876-5F64E3886D11}"/>
              </a:ext>
            </a:extLst>
          </p:cNvPr>
          <p:cNvSpPr>
            <a:spLocks noGrp="1" noRot="1" noChangeAspect="1" noChangeArrowheads="1" noTextEdit="1"/>
          </p:cNvSpPr>
          <p:nvPr>
            <p:ph type="sldImg"/>
          </p:nvPr>
        </p:nvSpPr>
        <p:spPr>
          <a:ln/>
        </p:spPr>
      </p:sp>
      <p:sp>
        <p:nvSpPr>
          <p:cNvPr id="37892" name="Rectangle 3">
            <a:extLst>
              <a:ext uri="{FF2B5EF4-FFF2-40B4-BE49-F238E27FC236}">
                <a16:creationId xmlns:a16="http://schemas.microsoft.com/office/drawing/2014/main" id="{318FB2C8-6753-4E2D-AAEC-A452E2E3E71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505895E3-C21C-436A-9B4F-1B0C51387B1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A5A98B97-FA22-4369-A14A-FFC78968838D}" type="slidenum">
              <a:rPr lang="en-US" altLang="en-US" smtClean="0"/>
              <a:pPr>
                <a:spcBef>
                  <a:spcPct val="0"/>
                </a:spcBef>
              </a:pPr>
              <a:t>16</a:t>
            </a:fld>
            <a:endParaRPr lang="en-US" altLang="en-US"/>
          </a:p>
        </p:txBody>
      </p:sp>
      <p:sp>
        <p:nvSpPr>
          <p:cNvPr id="39939" name="Rectangle 2">
            <a:extLst>
              <a:ext uri="{FF2B5EF4-FFF2-40B4-BE49-F238E27FC236}">
                <a16:creationId xmlns:a16="http://schemas.microsoft.com/office/drawing/2014/main" id="{C9C1A9C4-B413-4F5E-BE14-8B9FAC381052}"/>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D51EFFBF-12CA-4E7B-98B8-3FCE8327D15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a:extLst>
              <a:ext uri="{FF2B5EF4-FFF2-40B4-BE49-F238E27FC236}">
                <a16:creationId xmlns:a16="http://schemas.microsoft.com/office/drawing/2014/main" id="{9AA0A8F5-3A1E-48AC-9462-297B417B1AE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A9C97368-335A-4B14-939E-1CA630CD6749}" type="slidenum">
              <a:rPr lang="en-US" altLang="en-US" smtClean="0"/>
              <a:pPr>
                <a:spcBef>
                  <a:spcPct val="0"/>
                </a:spcBef>
              </a:pPr>
              <a:t>17</a:t>
            </a:fld>
            <a:endParaRPr lang="en-US" altLang="en-US"/>
          </a:p>
        </p:txBody>
      </p:sp>
      <p:sp>
        <p:nvSpPr>
          <p:cNvPr id="41987" name="Rectangle 2">
            <a:extLst>
              <a:ext uri="{FF2B5EF4-FFF2-40B4-BE49-F238E27FC236}">
                <a16:creationId xmlns:a16="http://schemas.microsoft.com/office/drawing/2014/main" id="{8977DF38-F3AE-46A8-BCBE-AD5067297BFD}"/>
              </a:ext>
            </a:extLst>
          </p:cNvPr>
          <p:cNvSpPr>
            <a:spLocks noGrp="1" noRot="1" noChangeAspect="1" noChangeArrowheads="1" noTextEdit="1"/>
          </p:cNvSpPr>
          <p:nvPr>
            <p:ph type="sldImg"/>
          </p:nvPr>
        </p:nvSpPr>
        <p:spPr>
          <a:ln/>
        </p:spPr>
      </p:sp>
      <p:sp>
        <p:nvSpPr>
          <p:cNvPr id="41988" name="Rectangle 3">
            <a:extLst>
              <a:ext uri="{FF2B5EF4-FFF2-40B4-BE49-F238E27FC236}">
                <a16:creationId xmlns:a16="http://schemas.microsoft.com/office/drawing/2014/main" id="{7CAB42E3-4BDB-48CC-942C-34613C6911F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a:extLst>
              <a:ext uri="{FF2B5EF4-FFF2-40B4-BE49-F238E27FC236}">
                <a16:creationId xmlns:a16="http://schemas.microsoft.com/office/drawing/2014/main" id="{940BA033-C388-45DB-8B4F-33AD161BD1E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10AC24FB-98D2-41F4-BF70-1C3CD357D4D8}" type="slidenum">
              <a:rPr lang="en-US" altLang="en-US" smtClean="0"/>
              <a:pPr>
                <a:spcBef>
                  <a:spcPct val="0"/>
                </a:spcBef>
              </a:pPr>
              <a:t>18</a:t>
            </a:fld>
            <a:endParaRPr lang="en-US" altLang="en-US"/>
          </a:p>
        </p:txBody>
      </p:sp>
      <p:sp>
        <p:nvSpPr>
          <p:cNvPr id="44035" name="Rectangle 2">
            <a:extLst>
              <a:ext uri="{FF2B5EF4-FFF2-40B4-BE49-F238E27FC236}">
                <a16:creationId xmlns:a16="http://schemas.microsoft.com/office/drawing/2014/main" id="{A211D279-5135-484A-8CD3-D6635F8817FF}"/>
              </a:ext>
            </a:extLst>
          </p:cNvPr>
          <p:cNvSpPr>
            <a:spLocks noGrp="1" noRot="1" noChangeAspect="1" noChangeArrowheads="1" noTextEdit="1"/>
          </p:cNvSpPr>
          <p:nvPr>
            <p:ph type="sldImg"/>
          </p:nvPr>
        </p:nvSpPr>
        <p:spPr>
          <a:ln/>
        </p:spPr>
      </p:sp>
      <p:sp>
        <p:nvSpPr>
          <p:cNvPr id="44036" name="Rectangle 3">
            <a:extLst>
              <a:ext uri="{FF2B5EF4-FFF2-40B4-BE49-F238E27FC236}">
                <a16:creationId xmlns:a16="http://schemas.microsoft.com/office/drawing/2014/main" id="{4DCACB2F-9D4E-4376-B24C-492714DB3D5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a:latin typeface="Arial" panose="020B0604020202020204" pitchFamily="34" charset="0"/>
              </a:rPr>
              <a:t>Public key (asymmetric) encryption</a:t>
            </a:r>
          </a:p>
          <a:p>
            <a:pPr lvl="1" eaLnBrk="1" hangingPunct="1"/>
            <a:r>
              <a:rPr lang="en-US" altLang="en-US" sz="1300">
                <a:latin typeface="Arial" panose="020B0604020202020204" pitchFamily="34" charset="0"/>
              </a:rPr>
              <a:t>The opposite of single-key encryption.</a:t>
            </a:r>
          </a:p>
          <a:p>
            <a:pPr lvl="1" eaLnBrk="1" hangingPunct="1"/>
            <a:r>
              <a:rPr lang="en-US" altLang="en-US" sz="1300">
                <a:latin typeface="Arial" panose="020B0604020202020204" pitchFamily="34" charset="0"/>
              </a:rPr>
              <a:t>One key (public key) is used to encrypt a message.</a:t>
            </a:r>
          </a:p>
          <a:p>
            <a:pPr lvl="1" eaLnBrk="1" hangingPunct="1"/>
            <a:r>
              <a:rPr lang="en-US" altLang="en-US" sz="1300">
                <a:latin typeface="Arial" panose="020B0604020202020204" pitchFamily="34" charset="0"/>
              </a:rPr>
              <a:t>One key (private key) is used to decrypt a message.</a:t>
            </a:r>
          </a:p>
          <a:p>
            <a:pPr lvl="1" eaLnBrk="1" hangingPunct="1"/>
            <a:r>
              <a:rPr lang="en-US" altLang="en-US" sz="1300">
                <a:latin typeface="Arial" panose="020B0604020202020204" pitchFamily="34" charset="0"/>
              </a:rPr>
              <a:t>Distribute public key, but only holder of private key can decrypt those messages.</a:t>
            </a:r>
          </a:p>
          <a:p>
            <a:pPr eaLnBrk="1" hangingPunct="1"/>
            <a:endParaRPr lang="en-US" altLang="en-US">
              <a:latin typeface="Arial" panose="020B0604020202020204" pitchFamily="34"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a:extLst>
              <a:ext uri="{FF2B5EF4-FFF2-40B4-BE49-F238E27FC236}">
                <a16:creationId xmlns:a16="http://schemas.microsoft.com/office/drawing/2014/main" id="{2238C900-0A0F-4BB4-9236-FE5A488A7FD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31B89392-E985-4D9C-A925-D681EE0CED9E}" type="slidenum">
              <a:rPr lang="en-US" altLang="en-US" smtClean="0"/>
              <a:pPr>
                <a:spcBef>
                  <a:spcPct val="0"/>
                </a:spcBef>
              </a:pPr>
              <a:t>19</a:t>
            </a:fld>
            <a:endParaRPr lang="en-US" altLang="en-US"/>
          </a:p>
        </p:txBody>
      </p:sp>
      <p:sp>
        <p:nvSpPr>
          <p:cNvPr id="46083" name="Rectangle 2">
            <a:extLst>
              <a:ext uri="{FF2B5EF4-FFF2-40B4-BE49-F238E27FC236}">
                <a16:creationId xmlns:a16="http://schemas.microsoft.com/office/drawing/2014/main" id="{14EF6299-1080-4C2E-BBB1-20BBCA00E765}"/>
              </a:ext>
            </a:extLst>
          </p:cNvPr>
          <p:cNvSpPr>
            <a:spLocks noGrp="1" noRot="1" noChangeAspect="1" noChangeArrowheads="1" noTextEdit="1"/>
          </p:cNvSpPr>
          <p:nvPr>
            <p:ph type="sldImg"/>
          </p:nvPr>
        </p:nvSpPr>
        <p:spPr>
          <a:ln/>
        </p:spPr>
      </p:sp>
      <p:sp>
        <p:nvSpPr>
          <p:cNvPr id="46084" name="Rectangle 3">
            <a:extLst>
              <a:ext uri="{FF2B5EF4-FFF2-40B4-BE49-F238E27FC236}">
                <a16:creationId xmlns:a16="http://schemas.microsoft.com/office/drawing/2014/main" id="{95F39002-A2FD-4DF2-B5FE-671EB70566D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95000"/>
              </a:lnSpc>
            </a:pPr>
            <a:r>
              <a:rPr lang="en-US" altLang="en-US">
                <a:latin typeface="Arial" panose="020B0604020202020204" pitchFamily="34" charset="0"/>
              </a:rPr>
              <a:t>Public key (asymmetric) encryption	</a:t>
            </a:r>
          </a:p>
          <a:p>
            <a:pPr lvl="1" eaLnBrk="1" hangingPunct="1">
              <a:lnSpc>
                <a:spcPct val="95000"/>
              </a:lnSpc>
            </a:pPr>
            <a:r>
              <a:rPr lang="en-US" altLang="en-US" sz="1300">
                <a:latin typeface="Arial" panose="020B0604020202020204" pitchFamily="34" charset="0"/>
              </a:rPr>
              <a:t>Public key algorithms depend on large prime numbers, factoring, and number theory.</a:t>
            </a:r>
          </a:p>
          <a:p>
            <a:pPr lvl="1" eaLnBrk="1" hangingPunct="1">
              <a:lnSpc>
                <a:spcPct val="95000"/>
              </a:lnSpc>
            </a:pPr>
            <a:r>
              <a:rPr lang="en-US" altLang="en-US" sz="1300">
                <a:latin typeface="Arial" panose="020B0604020202020204" pitchFamily="34" charset="0"/>
              </a:rPr>
              <a:t>The major issue with symmetric encryption is the distribution of keys, so public key encryption is the most widely used.</a:t>
            </a:r>
          </a:p>
          <a:p>
            <a:pPr lvl="1" eaLnBrk="1" hangingPunct="1">
              <a:lnSpc>
                <a:spcPct val="95000"/>
              </a:lnSpc>
            </a:pPr>
            <a:r>
              <a:rPr lang="en-US" altLang="en-US" sz="1300">
                <a:latin typeface="Arial" panose="020B0604020202020204" pitchFamily="34" charset="0"/>
              </a:rPr>
              <a:t>Loss of a key with symmetric encryption is a major problem because someone else could decrypt all the messages.</a:t>
            </a:r>
          </a:p>
          <a:p>
            <a:pPr lvl="1" eaLnBrk="1" hangingPunct="1">
              <a:lnSpc>
                <a:spcPct val="95000"/>
              </a:lnSpc>
            </a:pPr>
            <a:r>
              <a:rPr lang="en-US" altLang="en-US" sz="1300">
                <a:latin typeface="Arial" panose="020B0604020202020204" pitchFamily="34" charset="0"/>
              </a:rPr>
              <a:t>Not so with asymmetric encryption.</a:t>
            </a:r>
          </a:p>
          <a:p>
            <a:pPr eaLnBrk="1" hangingPunct="1"/>
            <a:endParaRPr lang="en-US" altLang="en-US">
              <a:latin typeface="Arial" panose="020B0604020202020204" pitchFamily="34"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a:extLst>
              <a:ext uri="{FF2B5EF4-FFF2-40B4-BE49-F238E27FC236}">
                <a16:creationId xmlns:a16="http://schemas.microsoft.com/office/drawing/2014/main" id="{7F9856D3-B576-4C7E-BCDA-FF0CE347D0F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21AA89AE-029C-48D0-85B9-65528D774F4E}" type="slidenum">
              <a:rPr lang="en-US" altLang="en-US" smtClean="0"/>
              <a:pPr>
                <a:spcBef>
                  <a:spcPct val="0"/>
                </a:spcBef>
              </a:pPr>
              <a:t>20</a:t>
            </a:fld>
            <a:endParaRPr lang="en-US" altLang="en-US"/>
          </a:p>
        </p:txBody>
      </p:sp>
      <p:sp>
        <p:nvSpPr>
          <p:cNvPr id="50179" name="Rectangle 2">
            <a:extLst>
              <a:ext uri="{FF2B5EF4-FFF2-40B4-BE49-F238E27FC236}">
                <a16:creationId xmlns:a16="http://schemas.microsoft.com/office/drawing/2014/main" id="{7F01B469-ECF6-4007-B346-7F6E51C90E48}"/>
              </a:ext>
            </a:extLst>
          </p:cNvPr>
          <p:cNvSpPr>
            <a:spLocks noGrp="1" noRot="1" noChangeAspect="1" noChangeArrowheads="1" noTextEdit="1"/>
          </p:cNvSpPr>
          <p:nvPr>
            <p:ph type="sldImg"/>
          </p:nvPr>
        </p:nvSpPr>
        <p:spPr>
          <a:ln/>
        </p:spPr>
      </p:sp>
      <p:sp>
        <p:nvSpPr>
          <p:cNvPr id="50180" name="Rectangle 3">
            <a:extLst>
              <a:ext uri="{FF2B5EF4-FFF2-40B4-BE49-F238E27FC236}">
                <a16:creationId xmlns:a16="http://schemas.microsoft.com/office/drawing/2014/main" id="{2EBDF179-D84A-43D6-AAB9-9B0695880C0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16F17-E469-62B0-091E-6E502F7787C6}"/>
            </a:ext>
          </a:extLst>
        </p:cNvPr>
        <p:cNvGrpSpPr/>
        <p:nvPr/>
      </p:nvGrpSpPr>
      <p:grpSpPr>
        <a:xfrm>
          <a:off x="0" y="0"/>
          <a:ext cx="0" cy="0"/>
          <a:chOff x="0" y="0"/>
          <a:chExt cx="0" cy="0"/>
        </a:xfrm>
      </p:grpSpPr>
      <p:sp>
        <p:nvSpPr>
          <p:cNvPr id="52226" name="Rectangle 7">
            <a:extLst>
              <a:ext uri="{FF2B5EF4-FFF2-40B4-BE49-F238E27FC236}">
                <a16:creationId xmlns:a16="http://schemas.microsoft.com/office/drawing/2014/main" id="{AEBC983D-CA6C-18F1-26DC-BB53F4BB8F6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F670765D-474F-46F1-8E02-15D067B2BF2B}" type="slidenum">
              <a:rPr lang="en-US" altLang="en-US" smtClean="0"/>
              <a:pPr>
                <a:spcBef>
                  <a:spcPct val="0"/>
                </a:spcBef>
              </a:pPr>
              <a:t>21</a:t>
            </a:fld>
            <a:endParaRPr lang="en-US" altLang="en-US"/>
          </a:p>
        </p:txBody>
      </p:sp>
      <p:sp>
        <p:nvSpPr>
          <p:cNvPr id="52227" name="Rectangle 2">
            <a:extLst>
              <a:ext uri="{FF2B5EF4-FFF2-40B4-BE49-F238E27FC236}">
                <a16:creationId xmlns:a16="http://schemas.microsoft.com/office/drawing/2014/main" id="{AB1AB5FE-822B-89FD-991D-51C9F32FFA24}"/>
              </a:ext>
            </a:extLst>
          </p:cNvPr>
          <p:cNvSpPr>
            <a:spLocks noGrp="1" noRot="1" noChangeAspect="1" noChangeArrowheads="1" noTextEdit="1"/>
          </p:cNvSpPr>
          <p:nvPr>
            <p:ph type="sldImg"/>
          </p:nvPr>
        </p:nvSpPr>
        <p:spPr>
          <a:ln/>
        </p:spPr>
      </p:sp>
      <p:sp>
        <p:nvSpPr>
          <p:cNvPr id="52228" name="Rectangle 3">
            <a:extLst>
              <a:ext uri="{FF2B5EF4-FFF2-40B4-BE49-F238E27FC236}">
                <a16:creationId xmlns:a16="http://schemas.microsoft.com/office/drawing/2014/main" id="{B6DCEB31-DE00-ABB2-2500-B19C0D97D87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411907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a:extLst>
              <a:ext uri="{FF2B5EF4-FFF2-40B4-BE49-F238E27FC236}">
                <a16:creationId xmlns:a16="http://schemas.microsoft.com/office/drawing/2014/main" id="{54177EF9-4084-448E-AEF9-F93058D5152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F670765D-474F-46F1-8E02-15D067B2BF2B}" type="slidenum">
              <a:rPr lang="en-US" altLang="en-US" smtClean="0"/>
              <a:pPr>
                <a:spcBef>
                  <a:spcPct val="0"/>
                </a:spcBef>
              </a:pPr>
              <a:t>22</a:t>
            </a:fld>
            <a:endParaRPr lang="en-US" altLang="en-US"/>
          </a:p>
        </p:txBody>
      </p:sp>
      <p:sp>
        <p:nvSpPr>
          <p:cNvPr id="52227" name="Rectangle 2">
            <a:extLst>
              <a:ext uri="{FF2B5EF4-FFF2-40B4-BE49-F238E27FC236}">
                <a16:creationId xmlns:a16="http://schemas.microsoft.com/office/drawing/2014/main" id="{536B15B0-4B6B-4EC2-A52E-2F2078358E61}"/>
              </a:ext>
            </a:extLst>
          </p:cNvPr>
          <p:cNvSpPr>
            <a:spLocks noGrp="1" noRot="1" noChangeAspect="1" noChangeArrowheads="1" noTextEdit="1"/>
          </p:cNvSpPr>
          <p:nvPr>
            <p:ph type="sldImg"/>
          </p:nvPr>
        </p:nvSpPr>
        <p:spPr>
          <a:ln/>
        </p:spPr>
      </p:sp>
      <p:sp>
        <p:nvSpPr>
          <p:cNvPr id="52228" name="Rectangle 3">
            <a:extLst>
              <a:ext uri="{FF2B5EF4-FFF2-40B4-BE49-F238E27FC236}">
                <a16:creationId xmlns:a16="http://schemas.microsoft.com/office/drawing/2014/main" id="{B232D8D2-FF18-48CE-AE56-1733B50D3F7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a:extLst>
              <a:ext uri="{FF2B5EF4-FFF2-40B4-BE49-F238E27FC236}">
                <a16:creationId xmlns:a16="http://schemas.microsoft.com/office/drawing/2014/main" id="{43515F3D-1D68-46B9-A722-8F825D61AED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65075284-1C94-432D-B4B3-C95EC6628820}" type="slidenum">
              <a:rPr lang="en-US" altLang="en-US" smtClean="0"/>
              <a:pPr>
                <a:spcBef>
                  <a:spcPct val="0"/>
                </a:spcBef>
              </a:pPr>
              <a:t>23</a:t>
            </a:fld>
            <a:endParaRPr lang="en-US" altLang="en-US"/>
          </a:p>
        </p:txBody>
      </p:sp>
      <p:sp>
        <p:nvSpPr>
          <p:cNvPr id="54275" name="Rectangle 2">
            <a:extLst>
              <a:ext uri="{FF2B5EF4-FFF2-40B4-BE49-F238E27FC236}">
                <a16:creationId xmlns:a16="http://schemas.microsoft.com/office/drawing/2014/main" id="{15E613B9-C60C-4804-96CA-F225A00E54C4}"/>
              </a:ext>
            </a:extLst>
          </p:cNvPr>
          <p:cNvSpPr>
            <a:spLocks noGrp="1" noRot="1" noChangeAspect="1" noChangeArrowheads="1" noTextEdit="1"/>
          </p:cNvSpPr>
          <p:nvPr>
            <p:ph type="sldImg"/>
          </p:nvPr>
        </p:nvSpPr>
        <p:spPr>
          <a:ln/>
        </p:spPr>
      </p:sp>
      <p:sp>
        <p:nvSpPr>
          <p:cNvPr id="54276" name="Rectangle 3">
            <a:extLst>
              <a:ext uri="{FF2B5EF4-FFF2-40B4-BE49-F238E27FC236}">
                <a16:creationId xmlns:a16="http://schemas.microsoft.com/office/drawing/2014/main" id="{7AF52CD3-B202-47F8-AEEC-E913B3225B4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Image Placeholder 1">
            <a:extLst>
              <a:ext uri="{FF2B5EF4-FFF2-40B4-BE49-F238E27FC236}">
                <a16:creationId xmlns:a16="http://schemas.microsoft.com/office/drawing/2014/main" id="{128BDEC0-EEED-4CB4-9E4F-5EC6539CC6AF}"/>
              </a:ext>
            </a:extLst>
          </p:cNvPr>
          <p:cNvSpPr>
            <a:spLocks noGrp="1" noRot="1" noChangeAspect="1" noTextEdit="1"/>
          </p:cNvSpPr>
          <p:nvPr>
            <p:ph type="sldImg"/>
          </p:nvPr>
        </p:nvSpPr>
        <p:spPr>
          <a:ln/>
        </p:spPr>
      </p:sp>
      <p:sp>
        <p:nvSpPr>
          <p:cNvPr id="60419" name="Notes Placeholder 2">
            <a:extLst>
              <a:ext uri="{FF2B5EF4-FFF2-40B4-BE49-F238E27FC236}">
                <a16:creationId xmlns:a16="http://schemas.microsoft.com/office/drawing/2014/main" id="{94A93351-8CC0-409F-9DB5-6C6F8D3851B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b="1">
                <a:latin typeface="Arial" panose="020B0604020202020204" pitchFamily="34" charset="0"/>
              </a:rPr>
              <a:t>This can be formally expressed as Kerckhoff’s principle. Auguste Kerckhoff first articulated this in the 1800s, stating that the security of a cipher depends only on the secrecy of the key, not the secrecy of the algorithm. Claude Shannon rephrased this stating that, “One ought to design systems under the assumption that the enemy will ultimately gain full familiarity with them.” This is referred to as Shannon's maxim and states essentially the same thing Kerckhoff’s principle states.</a:t>
            </a:r>
            <a:endParaRPr lang="en-US" altLang="en-US">
              <a:latin typeface="Arial" panose="020B0604020202020204" pitchFamily="34" charset="0"/>
            </a:endParaRPr>
          </a:p>
          <a:p>
            <a:endParaRPr lang="en-US" altLang="en-US">
              <a:latin typeface="Arial" panose="020B0604020202020204" pitchFamily="34" charset="0"/>
            </a:endParaRPr>
          </a:p>
        </p:txBody>
      </p:sp>
      <p:sp>
        <p:nvSpPr>
          <p:cNvPr id="60420" name="Slide Number Placeholder 3">
            <a:extLst>
              <a:ext uri="{FF2B5EF4-FFF2-40B4-BE49-F238E27FC236}">
                <a16:creationId xmlns:a16="http://schemas.microsoft.com/office/drawing/2014/main" id="{A1B7BAEF-820D-4444-AFB3-8605C73EE8C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151D9DA7-AD09-4377-89C2-0B075A7CC321}" type="slidenum">
              <a:rPr lang="en-US" altLang="en-US" smtClean="0"/>
              <a:pPr/>
              <a:t>25</a:t>
            </a:fld>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Slide Image Placeholder 1">
            <a:extLst>
              <a:ext uri="{FF2B5EF4-FFF2-40B4-BE49-F238E27FC236}">
                <a16:creationId xmlns:a16="http://schemas.microsoft.com/office/drawing/2014/main" id="{89E342D7-0BD3-41E1-8AE3-2D888FCE3FC5}"/>
              </a:ext>
            </a:extLst>
          </p:cNvPr>
          <p:cNvSpPr>
            <a:spLocks noGrp="1" noRot="1" noChangeAspect="1" noTextEdit="1"/>
          </p:cNvSpPr>
          <p:nvPr>
            <p:ph type="sldImg"/>
          </p:nvPr>
        </p:nvSpPr>
        <p:spPr>
          <a:ln/>
        </p:spPr>
      </p:sp>
      <p:sp>
        <p:nvSpPr>
          <p:cNvPr id="69635" name="Notes Placeholder 2">
            <a:extLst>
              <a:ext uri="{FF2B5EF4-FFF2-40B4-BE49-F238E27FC236}">
                <a16:creationId xmlns:a16="http://schemas.microsoft.com/office/drawing/2014/main" id="{96010C4B-ACC2-4272-B665-1B6C5C560D4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69636" name="Slide Number Placeholder 3">
            <a:extLst>
              <a:ext uri="{FF2B5EF4-FFF2-40B4-BE49-F238E27FC236}">
                <a16:creationId xmlns:a16="http://schemas.microsoft.com/office/drawing/2014/main" id="{0055E8C6-4B3D-4A67-804C-8383F8AB0D6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DE77599-AE5D-406A-B439-BB64921174C8}" type="slidenum">
              <a:rPr lang="en-US" altLang="en-US" smtClean="0">
                <a:ea typeface="MS PGothic" panose="020B0600070205080204" pitchFamily="34" charset="-128"/>
              </a:rPr>
              <a:pPr/>
              <a:t>33</a:t>
            </a:fld>
            <a:endParaRPr lang="en-US" altLang="en-US">
              <a:ea typeface="MS PGothic" panose="020B0600070205080204" pitchFamily="34" charset="-128"/>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creativecommons.org/licenses/by-nc-sa/4.0/" TargetMode="External"/><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0" y="1122363"/>
            <a:ext cx="9144000" cy="2387600"/>
          </a:xfrm>
        </p:spPr>
        <p:txBody>
          <a:bodyPr anchor="b"/>
          <a:lstStyle>
            <a:lvl1pPr algn="l">
              <a:defRPr sz="6000">
                <a:solidFill>
                  <a:schemeClr val="tx1"/>
                </a:solidFill>
              </a:defRPr>
            </a:lvl1pPr>
          </a:lstStyle>
          <a:p>
            <a:r>
              <a:rPr lang="en-US" dirty="0"/>
              <a:t>Click to add Title</a:t>
            </a:r>
          </a:p>
        </p:txBody>
      </p:sp>
      <p:sp>
        <p:nvSpPr>
          <p:cNvPr id="3" name="Subtitle 2"/>
          <p:cNvSpPr>
            <a:spLocks noGrp="1"/>
          </p:cNvSpPr>
          <p:nvPr>
            <p:ph type="subTitle" idx="1"/>
          </p:nvPr>
        </p:nvSpPr>
        <p:spPr>
          <a:xfrm>
            <a:off x="1524000" y="3602038"/>
            <a:ext cx="9144000"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8" name="Title Placeholder 1"/>
          <p:cNvSpPr txBox="1">
            <a:spLocks/>
          </p:cNvSpPr>
          <p:nvPr userDrawn="1"/>
        </p:nvSpPr>
        <p:spPr>
          <a:xfrm>
            <a:off x="190500" y="-15478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chemeClr val="bg1"/>
                </a:solidFill>
                <a:latin typeface="Arial Narrow" panose="020B0606020202030204" pitchFamily="34" charset="0"/>
                <a:ea typeface="+mj-ea"/>
                <a:cs typeface="+mj-cs"/>
              </a:defRPr>
            </a:lvl1pPr>
          </a:lstStyle>
          <a:p>
            <a:r>
              <a:rPr lang="en-US" sz="2400" dirty="0"/>
              <a:t>UNIVERSITY</a:t>
            </a:r>
            <a:r>
              <a:rPr lang="en-US" sz="2400" baseline="0" dirty="0"/>
              <a:t> OF NEBRASKA AT OMAHA</a:t>
            </a:r>
            <a:endParaRPr lang="en-US" sz="2400" dirty="0"/>
          </a:p>
        </p:txBody>
      </p:sp>
      <p:pic>
        <p:nvPicPr>
          <p:cNvPr id="1026" name="Picture 2" descr="Creative Commons License"/>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41400" y="6336723"/>
            <a:ext cx="1092200" cy="38475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p:cNvSpPr txBox="1"/>
          <p:nvPr userDrawn="1"/>
        </p:nvSpPr>
        <p:spPr>
          <a:xfrm>
            <a:off x="2184400" y="6336723"/>
            <a:ext cx="9385300" cy="369332"/>
          </a:xfrm>
          <a:prstGeom prst="rect">
            <a:avLst/>
          </a:prstGeom>
          <a:noFill/>
        </p:spPr>
        <p:txBody>
          <a:bodyPr wrap="square" rtlCol="0">
            <a:spAutoFit/>
          </a:bodyPr>
          <a:lstStyle/>
          <a:p>
            <a:r>
              <a:rPr lang="en-US" dirty="0">
                <a:latin typeface="Arial Narrow" panose="020B0606020202030204" pitchFamily="34" charset="0"/>
              </a:rPr>
              <a:t>These</a:t>
            </a:r>
            <a:r>
              <a:rPr lang="en-US" baseline="0" dirty="0">
                <a:latin typeface="Arial Narrow" panose="020B0606020202030204" pitchFamily="34" charset="0"/>
              </a:rPr>
              <a:t> materials are provided under a Creative Commons  </a:t>
            </a:r>
            <a:r>
              <a:rPr lang="en-US" baseline="0" dirty="0">
                <a:latin typeface="Arial Narrow" panose="020B0606020202030204" pitchFamily="34" charset="0"/>
                <a:hlinkClick r:id="rId3"/>
              </a:rPr>
              <a:t>Attribution-</a:t>
            </a:r>
            <a:r>
              <a:rPr lang="en-US" baseline="0" dirty="0" err="1">
                <a:latin typeface="Arial Narrow" panose="020B0606020202030204" pitchFamily="34" charset="0"/>
                <a:hlinkClick r:id="rId3"/>
              </a:rPr>
              <a:t>NonCommercial</a:t>
            </a:r>
            <a:r>
              <a:rPr lang="en-US" baseline="0" dirty="0">
                <a:latin typeface="Arial Narrow" panose="020B0606020202030204" pitchFamily="34" charset="0"/>
                <a:hlinkClick r:id="rId3"/>
              </a:rPr>
              <a:t>-</a:t>
            </a:r>
            <a:r>
              <a:rPr lang="en-US" baseline="0" dirty="0" err="1">
                <a:latin typeface="Arial Narrow" panose="020B0606020202030204" pitchFamily="34" charset="0"/>
                <a:hlinkClick r:id="rId3"/>
              </a:rPr>
              <a:t>ShareAlike</a:t>
            </a:r>
            <a:r>
              <a:rPr lang="en-US" baseline="0" dirty="0">
                <a:latin typeface="Arial Narrow" panose="020B0606020202030204" pitchFamily="34" charset="0"/>
                <a:hlinkClick r:id="rId3"/>
              </a:rPr>
              <a:t> </a:t>
            </a:r>
            <a:r>
              <a:rPr lang="en-US" baseline="0" dirty="0">
                <a:latin typeface="Arial Narrow" panose="020B0606020202030204" pitchFamily="34" charset="0"/>
              </a:rPr>
              <a:t>license.</a:t>
            </a:r>
            <a:endParaRPr lang="en-US" dirty="0">
              <a:latin typeface="Arial Narrow" panose="020B0606020202030204" pitchFamily="34" charset="0"/>
            </a:endParaRPr>
          </a:p>
        </p:txBody>
      </p:sp>
      <p:sp>
        <p:nvSpPr>
          <p:cNvPr id="10" name="Date Placeholder 9"/>
          <p:cNvSpPr>
            <a:spLocks noGrp="1"/>
          </p:cNvSpPr>
          <p:nvPr>
            <p:ph type="dt" sz="half" idx="10"/>
          </p:nvPr>
        </p:nvSpPr>
        <p:spPr>
          <a:xfrm>
            <a:off x="838200" y="6356350"/>
            <a:ext cx="2743200" cy="365125"/>
          </a:xfrm>
          <a:prstGeom prst="rect">
            <a:avLst/>
          </a:prstGeom>
        </p:spPr>
        <p:txBody>
          <a:bodyPr/>
          <a:lstStyle/>
          <a:p>
            <a:endParaRPr lang="en-US" dirty="0"/>
          </a:p>
        </p:txBody>
      </p:sp>
      <p:sp>
        <p:nvSpPr>
          <p:cNvPr id="11" name="Footer Placeholder 10"/>
          <p:cNvSpPr>
            <a:spLocks noGrp="1"/>
          </p:cNvSpPr>
          <p:nvPr>
            <p:ph type="ftr" sz="quarter" idx="11"/>
          </p:nvPr>
        </p:nvSpPr>
        <p:spPr>
          <a:xfrm>
            <a:off x="4038600" y="6356350"/>
            <a:ext cx="4114800" cy="365125"/>
          </a:xfrm>
          <a:prstGeom prst="rect">
            <a:avLst/>
          </a:prstGeom>
        </p:spPr>
        <p:txBody>
          <a:bodyPr/>
          <a:lstStyle/>
          <a:p>
            <a:endParaRPr lang="en-US"/>
          </a:p>
        </p:txBody>
      </p:sp>
    </p:spTree>
    <p:extLst>
      <p:ext uri="{BB962C8B-B14F-4D97-AF65-F5344CB8AC3E}">
        <p14:creationId xmlns:p14="http://schemas.microsoft.com/office/powerpoint/2010/main" val="3969210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31535146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384300"/>
            <a:ext cx="10515600" cy="3178175"/>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8824852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350168"/>
            <a:ext cx="5181600" cy="482679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350168"/>
            <a:ext cx="5181600" cy="482679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31319989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16827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1350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1958975"/>
            <a:ext cx="5157787" cy="423068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1350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958975"/>
            <a:ext cx="5183188" cy="42306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3577656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3594607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18329744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6992888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3796327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12453781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094C11E7-507F-4422-8D09-51AE60736DD4}" type="slidenum">
              <a:rPr lang="en-US" smtClean="0"/>
              <a:t>‹#›</a:t>
            </a:fld>
            <a:endParaRPr lang="en-US"/>
          </a:p>
        </p:txBody>
      </p:sp>
    </p:spTree>
    <p:extLst>
      <p:ext uri="{BB962C8B-B14F-4D97-AF65-F5344CB8AC3E}">
        <p14:creationId xmlns:p14="http://schemas.microsoft.com/office/powerpoint/2010/main" val="1392537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8200" y="1439067"/>
            <a:ext cx="10515600" cy="473789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p:cNvSpPr/>
          <p:nvPr userDrawn="1"/>
        </p:nvSpPr>
        <p:spPr>
          <a:xfrm>
            <a:off x="0" y="0"/>
            <a:ext cx="12192000" cy="1016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190500" y="-154782"/>
            <a:ext cx="10515600" cy="1325563"/>
          </a:xfrm>
          <a:prstGeom prst="rect">
            <a:avLst/>
          </a:prstGeom>
        </p:spPr>
        <p:txBody>
          <a:bodyPr vert="horz" lIns="91440" tIns="45720" rIns="91440" bIns="45720" rtlCol="0" anchor="ctr">
            <a:normAutofit/>
          </a:bodyPr>
          <a:lstStyle/>
          <a:p>
            <a:r>
              <a:rPr lang="en-US" dirty="0"/>
              <a:t>Click to edit Master title style</a:t>
            </a:r>
          </a:p>
        </p:txBody>
      </p:sp>
      <p:pic>
        <p:nvPicPr>
          <p:cNvPr id="8" name="Picture 7"/>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0690225" y="-268286"/>
            <a:ext cx="1527968" cy="1527968"/>
          </a:xfrm>
          <a:prstGeom prst="rect">
            <a:avLst/>
          </a:prstGeom>
        </p:spPr>
      </p:pic>
      <p:sp>
        <p:nvSpPr>
          <p:cNvPr id="10" name="Slide Number Placeholder 9"/>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0B4394-221E-4538-9614-40454A932F9E}" type="slidenum">
              <a:rPr lang="en-US" smtClean="0"/>
              <a:t>‹#›</a:t>
            </a:fld>
            <a:endParaRPr lang="en-US"/>
          </a:p>
        </p:txBody>
      </p:sp>
    </p:spTree>
    <p:extLst>
      <p:ext uri="{BB962C8B-B14F-4D97-AF65-F5344CB8AC3E}">
        <p14:creationId xmlns:p14="http://schemas.microsoft.com/office/powerpoint/2010/main" val="3176481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b="1" kern="1200">
          <a:solidFill>
            <a:schemeClr val="bg1"/>
          </a:solidFill>
          <a:latin typeface="Arial Narrow" panose="020B0606020202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Narrow" panose="020B0606020202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Narrow" panose="020B0606020202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Narrow" panose="020B0606020202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Narrow" panose="020B0606020202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Narrow" panose="020B0606020202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2.xml"/><Relationship Id="rId1" Type="http://schemas.openxmlformats.org/officeDocument/2006/relationships/video" Target="https://www.youtube.com/embed/G2_Q9FoD-oQ?feature=oembed"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web.mit.edu/network/pgp.html"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Cryptography, Steganography, and Hashing</a:t>
            </a:r>
          </a:p>
        </p:txBody>
      </p:sp>
      <p:sp>
        <p:nvSpPr>
          <p:cNvPr id="3" name="Subtitle 2"/>
          <p:cNvSpPr>
            <a:spLocks noGrp="1"/>
          </p:cNvSpPr>
          <p:nvPr>
            <p:ph type="subTitle" idx="1"/>
          </p:nvPr>
        </p:nvSpPr>
        <p:spPr/>
        <p:txBody>
          <a:bodyPr/>
          <a:lstStyle/>
          <a:p>
            <a:r>
              <a:rPr lang="en-US" dirty="0"/>
              <a:t>CYBR 1100 – Introduction to Information Security</a:t>
            </a:r>
          </a:p>
        </p:txBody>
      </p:sp>
    </p:spTree>
    <p:extLst>
      <p:ext uri="{BB962C8B-B14F-4D97-AF65-F5344CB8AC3E}">
        <p14:creationId xmlns:p14="http://schemas.microsoft.com/office/powerpoint/2010/main" val="25197287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altLang="en-US" dirty="0"/>
              <a:t>Explain the basics of encryption</a:t>
            </a:r>
          </a:p>
          <a:p>
            <a:r>
              <a:rPr lang="en-US" altLang="en-US" dirty="0"/>
              <a:t>Discuss modern cryptography methods</a:t>
            </a:r>
          </a:p>
          <a:p>
            <a:r>
              <a:rPr lang="en-US" altLang="en-US" dirty="0"/>
              <a:t>Select appropriate cryptography for your organization</a:t>
            </a:r>
          </a:p>
          <a:p>
            <a:r>
              <a:rPr lang="en-US" dirty="0"/>
              <a:t>Look at the role of hash functions</a:t>
            </a:r>
          </a:p>
          <a:p>
            <a:r>
              <a:rPr lang="en-US" dirty="0"/>
              <a:t>Explore steganography</a:t>
            </a:r>
          </a:p>
        </p:txBody>
      </p:sp>
      <p:sp>
        <p:nvSpPr>
          <p:cNvPr id="4" name="Slide Number Placeholder 3"/>
          <p:cNvSpPr>
            <a:spLocks noGrp="1"/>
          </p:cNvSpPr>
          <p:nvPr>
            <p:ph type="sldNum" sz="quarter" idx="12"/>
          </p:nvPr>
        </p:nvSpPr>
        <p:spPr/>
        <p:txBody>
          <a:bodyPr/>
          <a:lstStyle/>
          <a:p>
            <a:fld id="{094C11E7-507F-4422-8D09-51AE60736DD4}" type="slidenum">
              <a:rPr lang="en-US" smtClean="0"/>
              <a:t>2</a:t>
            </a:fld>
            <a:endParaRPr lang="en-US"/>
          </a:p>
        </p:txBody>
      </p:sp>
    </p:spTree>
    <p:extLst>
      <p:ext uri="{BB962C8B-B14F-4D97-AF65-F5344CB8AC3E}">
        <p14:creationId xmlns:p14="http://schemas.microsoft.com/office/powerpoint/2010/main" val="2320885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Slide Number Placeholder 4">
            <a:extLst>
              <a:ext uri="{FF2B5EF4-FFF2-40B4-BE49-F238E27FC236}">
                <a16:creationId xmlns:a16="http://schemas.microsoft.com/office/drawing/2014/main" id="{C36E388D-52E8-4944-A00D-67CA67E293F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A07B503A-141B-4BF9-9710-3D113988DB1C}" type="slidenum">
              <a:rPr lang="en-US" altLang="en-US" sz="1200">
                <a:latin typeface="Garamond" panose="02020404030301010803" pitchFamily="18" charset="0"/>
              </a:rPr>
              <a:pPr>
                <a:spcBef>
                  <a:spcPct val="0"/>
                </a:spcBef>
                <a:buClrTx/>
                <a:buSzTx/>
                <a:buFontTx/>
                <a:buNone/>
              </a:pPr>
              <a:t>3</a:t>
            </a:fld>
            <a:endParaRPr lang="en-US" altLang="en-US" sz="1200">
              <a:latin typeface="Garamond" panose="02020404030301010803" pitchFamily="18" charset="0"/>
            </a:endParaRPr>
          </a:p>
        </p:txBody>
      </p:sp>
      <p:sp>
        <p:nvSpPr>
          <p:cNvPr id="8196" name="Rectangle 2">
            <a:extLst>
              <a:ext uri="{FF2B5EF4-FFF2-40B4-BE49-F238E27FC236}">
                <a16:creationId xmlns:a16="http://schemas.microsoft.com/office/drawing/2014/main" id="{A8918D21-675D-4B8B-BCE2-361DF758C2E8}"/>
              </a:ext>
            </a:extLst>
          </p:cNvPr>
          <p:cNvSpPr>
            <a:spLocks noGrp="1" noChangeArrowheads="1"/>
          </p:cNvSpPr>
          <p:nvPr>
            <p:ph type="title"/>
          </p:nvPr>
        </p:nvSpPr>
        <p:spPr/>
        <p:txBody>
          <a:bodyPr/>
          <a:lstStyle/>
          <a:p>
            <a:pPr eaLnBrk="1" hangingPunct="1"/>
            <a:r>
              <a:rPr lang="en-US" altLang="en-US"/>
              <a:t>Introduction</a:t>
            </a:r>
          </a:p>
        </p:txBody>
      </p:sp>
      <p:sp>
        <p:nvSpPr>
          <p:cNvPr id="8197" name="Rectangle 3">
            <a:extLst>
              <a:ext uri="{FF2B5EF4-FFF2-40B4-BE49-F238E27FC236}">
                <a16:creationId xmlns:a16="http://schemas.microsoft.com/office/drawing/2014/main" id="{575F273D-2343-4E8A-87A7-828526958759}"/>
              </a:ext>
            </a:extLst>
          </p:cNvPr>
          <p:cNvSpPr>
            <a:spLocks noGrp="1" noChangeArrowheads="1"/>
          </p:cNvSpPr>
          <p:nvPr>
            <p:ph type="body" idx="1"/>
          </p:nvPr>
        </p:nvSpPr>
        <p:spPr/>
        <p:txBody>
          <a:bodyPr/>
          <a:lstStyle/>
          <a:p>
            <a:pPr eaLnBrk="1" hangingPunct="1"/>
            <a:r>
              <a:rPr lang="en-US" altLang="en-US"/>
              <a:t>Encryption</a:t>
            </a:r>
          </a:p>
          <a:p>
            <a:pPr lvl="1" eaLnBrk="1" hangingPunct="1"/>
            <a:r>
              <a:rPr lang="en-US" altLang="en-US" sz="2800"/>
              <a:t>Scrambling information.</a:t>
            </a:r>
          </a:p>
          <a:p>
            <a:pPr lvl="1" eaLnBrk="1" hangingPunct="1"/>
            <a:r>
              <a:rPr lang="en-US" altLang="en-US" sz="2800"/>
              <a:t>One critical part to the security puzzle.</a:t>
            </a:r>
          </a:p>
          <a:p>
            <a:pPr lvl="1" eaLnBrk="1" hangingPunct="1"/>
            <a:r>
              <a:rPr lang="en-US" altLang="en-US" sz="2800"/>
              <a:t>Without it, all security measures are inadequate.</a:t>
            </a:r>
          </a:p>
          <a:p>
            <a:pPr eaLnBrk="1" hangingPunct="1"/>
            <a:r>
              <a:rPr lang="en-US" altLang="en-US"/>
              <a:t>Cryptography</a:t>
            </a:r>
          </a:p>
          <a:p>
            <a:pPr lvl="1" eaLnBrk="1" hangingPunct="1"/>
            <a:r>
              <a:rPr lang="en-US" altLang="en-US" sz="2800"/>
              <a:t>An art form</a:t>
            </a:r>
          </a:p>
          <a:p>
            <a:pPr lvl="1" eaLnBrk="1" hangingPunct="1">
              <a:buFont typeface="Wingdings" panose="05000000000000000000" pitchFamily="2" charset="2"/>
              <a:buNone/>
            </a:pPr>
            <a:endParaRPr lang="en-US" altLang="en-US"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Slide Number Placeholder 4">
            <a:extLst>
              <a:ext uri="{FF2B5EF4-FFF2-40B4-BE49-F238E27FC236}">
                <a16:creationId xmlns:a16="http://schemas.microsoft.com/office/drawing/2014/main" id="{539E25E2-C00C-4F74-8301-1B2330B33F4A}"/>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52A4654A-D2AF-44C8-B00A-3AD9179A340E}" type="slidenum">
              <a:rPr lang="en-US" altLang="en-US" sz="1200">
                <a:latin typeface="Garamond" panose="02020404030301010803" pitchFamily="18" charset="0"/>
              </a:rPr>
              <a:pPr>
                <a:spcBef>
                  <a:spcPct val="0"/>
                </a:spcBef>
                <a:buClrTx/>
                <a:buSzTx/>
                <a:buFontTx/>
                <a:buNone/>
              </a:pPr>
              <a:t>4</a:t>
            </a:fld>
            <a:endParaRPr lang="en-US" altLang="en-US" sz="1200">
              <a:latin typeface="Garamond" panose="02020404030301010803" pitchFamily="18" charset="0"/>
            </a:endParaRPr>
          </a:p>
        </p:txBody>
      </p:sp>
      <p:sp>
        <p:nvSpPr>
          <p:cNvPr id="10244" name="Rectangle 2">
            <a:extLst>
              <a:ext uri="{FF2B5EF4-FFF2-40B4-BE49-F238E27FC236}">
                <a16:creationId xmlns:a16="http://schemas.microsoft.com/office/drawing/2014/main" id="{9B7546E1-51C5-43BF-A740-D3270CE3C0C7}"/>
              </a:ext>
            </a:extLst>
          </p:cNvPr>
          <p:cNvSpPr>
            <a:spLocks noGrp="1" noChangeArrowheads="1"/>
          </p:cNvSpPr>
          <p:nvPr>
            <p:ph type="title"/>
          </p:nvPr>
        </p:nvSpPr>
        <p:spPr/>
        <p:txBody>
          <a:bodyPr/>
          <a:lstStyle/>
          <a:p>
            <a:pPr eaLnBrk="1" hangingPunct="1"/>
            <a:r>
              <a:rPr lang="en-US" altLang="en-US"/>
              <a:t>Cryptography Basics</a:t>
            </a:r>
          </a:p>
        </p:txBody>
      </p:sp>
      <p:sp>
        <p:nvSpPr>
          <p:cNvPr id="10245" name="Rectangle 3">
            <a:extLst>
              <a:ext uri="{FF2B5EF4-FFF2-40B4-BE49-F238E27FC236}">
                <a16:creationId xmlns:a16="http://schemas.microsoft.com/office/drawing/2014/main" id="{AB6663EF-A51F-426D-B27E-5001EA865A04}"/>
              </a:ext>
            </a:extLst>
          </p:cNvPr>
          <p:cNvSpPr>
            <a:spLocks noGrp="1" noChangeArrowheads="1"/>
          </p:cNvSpPr>
          <p:nvPr>
            <p:ph type="body" idx="1"/>
          </p:nvPr>
        </p:nvSpPr>
        <p:spPr/>
        <p:txBody>
          <a:bodyPr>
            <a:normAutofit/>
          </a:bodyPr>
          <a:lstStyle/>
          <a:p>
            <a:r>
              <a:rPr lang="en-US" altLang="en-US" sz="3200" dirty="0"/>
              <a:t>Encryption</a:t>
            </a:r>
          </a:p>
          <a:p>
            <a:pPr lvl="1"/>
            <a:r>
              <a:rPr lang="en-US" altLang="en-US" sz="3200" dirty="0"/>
              <a:t>Algorithm scrambles plain</a:t>
            </a:r>
          </a:p>
          <a:p>
            <a:pPr lvl="1"/>
            <a:r>
              <a:rPr lang="en-US" altLang="en-US" sz="3200" dirty="0"/>
              <a:t>Sender and receiver agree on algorithm </a:t>
            </a:r>
          </a:p>
          <a:p>
            <a:pPr lvl="1"/>
            <a:r>
              <a:rPr lang="en-US" altLang="en-US" sz="3200" dirty="0"/>
              <a:t>Message difficult to re-create without protocol</a:t>
            </a:r>
          </a:p>
          <a:p>
            <a:pPr marL="0" indent="0" eaLnBrk="1" hangingPunct="1">
              <a:buNone/>
            </a:pPr>
            <a:endParaRPr lang="en-US" altLang="en-US" sz="3200" dirty="0"/>
          </a:p>
          <a:p>
            <a:pPr eaLnBrk="1" hangingPunct="1"/>
            <a:r>
              <a:rPr lang="en-US" altLang="en-US" sz="3200" dirty="0"/>
              <a:t>Decryption</a:t>
            </a:r>
          </a:p>
          <a:p>
            <a:pPr lvl="1" eaLnBrk="1" hangingPunct="1"/>
            <a:r>
              <a:rPr lang="en-US" altLang="en-US" sz="3200" dirty="0"/>
              <a:t>Reversal of the scrambling protocol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Slide Number Placeholder 4">
            <a:extLst>
              <a:ext uri="{FF2B5EF4-FFF2-40B4-BE49-F238E27FC236}">
                <a16:creationId xmlns:a16="http://schemas.microsoft.com/office/drawing/2014/main" id="{C3ED421A-3481-4657-9C4F-543584FA497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5A04E739-08B2-4441-8F7E-A213B257A7C4}" type="slidenum">
              <a:rPr lang="en-US" altLang="en-US" sz="1200">
                <a:latin typeface="Garamond" panose="02020404030301010803" pitchFamily="18" charset="0"/>
              </a:rPr>
              <a:pPr>
                <a:spcBef>
                  <a:spcPct val="0"/>
                </a:spcBef>
                <a:buClrTx/>
                <a:buSzTx/>
                <a:buFontTx/>
                <a:buNone/>
              </a:pPr>
              <a:t>5</a:t>
            </a:fld>
            <a:endParaRPr lang="en-US" altLang="en-US" sz="1200">
              <a:latin typeface="Garamond" panose="02020404030301010803" pitchFamily="18" charset="0"/>
            </a:endParaRPr>
          </a:p>
        </p:txBody>
      </p:sp>
      <p:sp>
        <p:nvSpPr>
          <p:cNvPr id="14340" name="Rectangle 2">
            <a:extLst>
              <a:ext uri="{FF2B5EF4-FFF2-40B4-BE49-F238E27FC236}">
                <a16:creationId xmlns:a16="http://schemas.microsoft.com/office/drawing/2014/main" id="{9DEB342E-674C-4D3B-BEC6-E64BDD7E5B44}"/>
              </a:ext>
            </a:extLst>
          </p:cNvPr>
          <p:cNvSpPr>
            <a:spLocks noGrp="1" noChangeArrowheads="1"/>
          </p:cNvSpPr>
          <p:nvPr>
            <p:ph type="title"/>
          </p:nvPr>
        </p:nvSpPr>
        <p:spPr/>
        <p:txBody>
          <a:bodyPr/>
          <a:lstStyle/>
          <a:p>
            <a:pPr eaLnBrk="1" hangingPunct="1"/>
            <a:r>
              <a:rPr lang="en-US" altLang="en-US"/>
              <a:t>History of Encryption</a:t>
            </a:r>
          </a:p>
        </p:txBody>
      </p:sp>
      <p:sp>
        <p:nvSpPr>
          <p:cNvPr id="14341" name="Rectangle 3">
            <a:extLst>
              <a:ext uri="{FF2B5EF4-FFF2-40B4-BE49-F238E27FC236}">
                <a16:creationId xmlns:a16="http://schemas.microsoft.com/office/drawing/2014/main" id="{2DC4F29C-005A-44F1-B348-0D9B4AD7B2F8}"/>
              </a:ext>
            </a:extLst>
          </p:cNvPr>
          <p:cNvSpPr>
            <a:spLocks noGrp="1" noChangeArrowheads="1"/>
          </p:cNvSpPr>
          <p:nvPr>
            <p:ph type="body" idx="1"/>
          </p:nvPr>
        </p:nvSpPr>
        <p:spPr/>
        <p:txBody>
          <a:bodyPr>
            <a:normAutofit lnSpcReduction="10000"/>
          </a:bodyPr>
          <a:lstStyle/>
          <a:p>
            <a:pPr eaLnBrk="1" hangingPunct="1">
              <a:lnSpc>
                <a:spcPct val="90000"/>
              </a:lnSpc>
            </a:pPr>
            <a:r>
              <a:rPr lang="en-US" altLang="en-US" dirty="0"/>
              <a:t>Old as written communication and war</a:t>
            </a:r>
          </a:p>
          <a:p>
            <a:pPr eaLnBrk="1" hangingPunct="1">
              <a:lnSpc>
                <a:spcPct val="90000"/>
              </a:lnSpc>
            </a:pPr>
            <a:r>
              <a:rPr lang="en-US" altLang="en-US" dirty="0"/>
              <a:t>Caesar Cipher</a:t>
            </a:r>
          </a:p>
          <a:p>
            <a:pPr lvl="1" eaLnBrk="1" hangingPunct="1">
              <a:lnSpc>
                <a:spcPct val="90000"/>
              </a:lnSpc>
            </a:pPr>
            <a:r>
              <a:rPr lang="en-US" altLang="en-US" sz="2800" dirty="0"/>
              <a:t>Shift cipher</a:t>
            </a:r>
          </a:p>
          <a:p>
            <a:pPr lvl="2" eaLnBrk="1" hangingPunct="1">
              <a:lnSpc>
                <a:spcPct val="90000"/>
              </a:lnSpc>
            </a:pPr>
            <a:r>
              <a:rPr lang="en-US" altLang="en-US" sz="2600" dirty="0"/>
              <a:t>A DOG</a:t>
            </a:r>
          </a:p>
          <a:p>
            <a:pPr lvl="3" eaLnBrk="1" hangingPunct="1">
              <a:lnSpc>
                <a:spcPct val="90000"/>
              </a:lnSpc>
            </a:pPr>
            <a:r>
              <a:rPr lang="en-US" altLang="en-US" sz="2400" dirty="0"/>
              <a:t>Shift 1 – B EPH</a:t>
            </a:r>
          </a:p>
          <a:p>
            <a:pPr lvl="3" eaLnBrk="1" hangingPunct="1">
              <a:lnSpc>
                <a:spcPct val="90000"/>
              </a:lnSpc>
            </a:pPr>
            <a:r>
              <a:rPr lang="en-US" altLang="en-US" sz="2400" dirty="0"/>
              <a:t>Shift 2 – C FQI</a:t>
            </a:r>
          </a:p>
          <a:p>
            <a:pPr lvl="3" eaLnBrk="1" hangingPunct="1">
              <a:lnSpc>
                <a:spcPct val="90000"/>
              </a:lnSpc>
            </a:pPr>
            <a:r>
              <a:rPr lang="en-US" altLang="en-US" sz="2400" dirty="0"/>
              <a:t>Shift negative 1 – Z CNF</a:t>
            </a:r>
            <a:endParaRPr lang="en-US" altLang="en-US" dirty="0"/>
          </a:p>
          <a:p>
            <a:pPr lvl="1"/>
            <a:r>
              <a:rPr lang="en-US" altLang="en-US" sz="2800" dirty="0"/>
              <a:t>Frequency distribution cracks this simple cipher.</a:t>
            </a:r>
            <a:endParaRPr lang="en-US" altLang="en-US" sz="3000" dirty="0"/>
          </a:p>
          <a:p>
            <a:pPr lvl="1"/>
            <a:r>
              <a:rPr lang="en-US" altLang="en-US" sz="2800" dirty="0"/>
              <a:t>Substitution alphabet.</a:t>
            </a:r>
          </a:p>
          <a:p>
            <a:pPr lvl="2"/>
            <a:r>
              <a:rPr lang="en-US" altLang="en-US" sz="2600" dirty="0"/>
              <a:t>Substitutes one letter in the alphabet for another.</a:t>
            </a:r>
          </a:p>
          <a:p>
            <a:pPr lvl="2"/>
            <a:r>
              <a:rPr lang="en-US" altLang="en-US" sz="2600" dirty="0"/>
              <a:t>Caesar is a mono-alphabetic cipher.</a:t>
            </a:r>
          </a:p>
          <a:p>
            <a:endParaRPr lang="en-US" altLang="en-US" sz="3400" dirty="0"/>
          </a:p>
        </p:txBody>
      </p:sp>
      <p:pic>
        <p:nvPicPr>
          <p:cNvPr id="1028" name="Picture 4" descr="Caesar cipher - Wikipedia">
            <a:extLst>
              <a:ext uri="{FF2B5EF4-FFF2-40B4-BE49-F238E27FC236}">
                <a16:creationId xmlns:a16="http://schemas.microsoft.com/office/drawing/2014/main" id="{6EA01BCE-D0C1-49D0-8B56-A066E22A14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237535"/>
            <a:ext cx="6096000" cy="257048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Slide Number Placeholder 4">
            <a:extLst>
              <a:ext uri="{FF2B5EF4-FFF2-40B4-BE49-F238E27FC236}">
                <a16:creationId xmlns:a16="http://schemas.microsoft.com/office/drawing/2014/main" id="{DDA4A3A9-4EF6-4BF9-B953-8DBBB76E3A3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AF22E530-5A36-4D46-A463-F1F2C6B14928}" type="slidenum">
              <a:rPr lang="en-US" altLang="en-US" sz="1200">
                <a:latin typeface="Garamond" panose="02020404030301010803" pitchFamily="18" charset="0"/>
              </a:rPr>
              <a:pPr>
                <a:spcBef>
                  <a:spcPct val="0"/>
                </a:spcBef>
                <a:buClrTx/>
                <a:buSzTx/>
                <a:buFontTx/>
                <a:buNone/>
              </a:pPr>
              <a:t>6</a:t>
            </a:fld>
            <a:endParaRPr lang="en-US" altLang="en-US" sz="1200">
              <a:latin typeface="Garamond" panose="02020404030301010803" pitchFamily="18" charset="0"/>
            </a:endParaRPr>
          </a:p>
        </p:txBody>
      </p:sp>
      <p:sp>
        <p:nvSpPr>
          <p:cNvPr id="18436" name="Rectangle 2">
            <a:extLst>
              <a:ext uri="{FF2B5EF4-FFF2-40B4-BE49-F238E27FC236}">
                <a16:creationId xmlns:a16="http://schemas.microsoft.com/office/drawing/2014/main" id="{4C9CFD26-D1A8-41FC-86C2-D174A528DC79}"/>
              </a:ext>
            </a:extLst>
          </p:cNvPr>
          <p:cNvSpPr>
            <a:spLocks noGrp="1" noChangeArrowheads="1"/>
          </p:cNvSpPr>
          <p:nvPr>
            <p:ph type="title"/>
          </p:nvPr>
        </p:nvSpPr>
        <p:spPr/>
        <p:txBody>
          <a:bodyPr/>
          <a:lstStyle/>
          <a:p>
            <a:pPr eaLnBrk="1" hangingPunct="1"/>
            <a:r>
              <a:rPr lang="en-US" altLang="en-US"/>
              <a:t>History of Encryption (cont.)</a:t>
            </a:r>
          </a:p>
        </p:txBody>
      </p:sp>
      <p:sp>
        <p:nvSpPr>
          <p:cNvPr id="18437" name="Rectangle 3">
            <a:extLst>
              <a:ext uri="{FF2B5EF4-FFF2-40B4-BE49-F238E27FC236}">
                <a16:creationId xmlns:a16="http://schemas.microsoft.com/office/drawing/2014/main" id="{A56558D7-CE86-43EB-AD72-7E1BEDD3469F}"/>
              </a:ext>
            </a:extLst>
          </p:cNvPr>
          <p:cNvSpPr>
            <a:spLocks noGrp="1" noChangeArrowheads="1"/>
          </p:cNvSpPr>
          <p:nvPr>
            <p:ph type="body" idx="1"/>
          </p:nvPr>
        </p:nvSpPr>
        <p:spPr>
          <a:xfrm>
            <a:off x="322082" y="1236155"/>
            <a:ext cx="8229600" cy="4800600"/>
          </a:xfrm>
        </p:spPr>
        <p:txBody>
          <a:bodyPr/>
          <a:lstStyle/>
          <a:p>
            <a:pPr eaLnBrk="1" hangingPunct="1"/>
            <a:r>
              <a:rPr lang="en-US" altLang="en-US" dirty="0"/>
              <a:t>ATBASH</a:t>
            </a:r>
          </a:p>
          <a:p>
            <a:pPr eaLnBrk="1" hangingPunct="1"/>
            <a:r>
              <a:rPr lang="en-US" altLang="en-US" dirty="0"/>
              <a:t>Rail Fence</a:t>
            </a:r>
          </a:p>
          <a:p>
            <a:pPr eaLnBrk="1" hangingPunct="1"/>
            <a:r>
              <a:rPr lang="en-US" altLang="en-US" dirty="0" err="1"/>
              <a:t>Vigenere</a:t>
            </a:r>
            <a:endParaRPr lang="en-US" altLang="en-US" sz="2600" dirty="0"/>
          </a:p>
          <a:p>
            <a:pPr eaLnBrk="1" hangingPunct="1"/>
            <a:r>
              <a:rPr lang="en-US" altLang="en-US" sz="2600" dirty="0"/>
              <a:t>Enigma</a:t>
            </a:r>
            <a:endParaRPr lang="en-US" altLang="en-US" dirty="0"/>
          </a:p>
        </p:txBody>
      </p:sp>
      <p:pic>
        <p:nvPicPr>
          <p:cNvPr id="2050" name="Picture 2" descr="Scytale - Wikipedia">
            <a:extLst>
              <a:ext uri="{FF2B5EF4-FFF2-40B4-BE49-F238E27FC236}">
                <a16:creationId xmlns:a16="http://schemas.microsoft.com/office/drawing/2014/main" id="{861564A1-D75E-49CA-B986-B82F6DA5D4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40074" y="136525"/>
            <a:ext cx="5073320" cy="290024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Vigenère cipher - Wikipedia">
            <a:extLst>
              <a:ext uri="{FF2B5EF4-FFF2-40B4-BE49-F238E27FC236}">
                <a16:creationId xmlns:a16="http://schemas.microsoft.com/office/drawing/2014/main" id="{2578429A-00C2-464B-88FA-949ABB4D28B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4247" y="2490247"/>
            <a:ext cx="4367753" cy="4367753"/>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Enigma machine sells for a record $463,500">
            <a:extLst>
              <a:ext uri="{FF2B5EF4-FFF2-40B4-BE49-F238E27FC236}">
                <a16:creationId xmlns:a16="http://schemas.microsoft.com/office/drawing/2014/main" id="{F49C1259-0F5D-482A-9B54-1FB1B0D1C9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9985" y="3061494"/>
            <a:ext cx="5519738" cy="36798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6C56E-1627-8181-3285-61E749D8F4BB}"/>
              </a:ext>
            </a:extLst>
          </p:cNvPr>
          <p:cNvSpPr>
            <a:spLocks noGrp="1"/>
          </p:cNvSpPr>
          <p:nvPr>
            <p:ph type="title"/>
          </p:nvPr>
        </p:nvSpPr>
        <p:spPr/>
        <p:txBody>
          <a:bodyPr/>
          <a:lstStyle/>
          <a:p>
            <a:r>
              <a:rPr lang="en-US" dirty="0"/>
              <a:t>Enigma Explained</a:t>
            </a:r>
          </a:p>
        </p:txBody>
      </p:sp>
      <p:pic>
        <p:nvPicPr>
          <p:cNvPr id="5" name="Online Media 4" descr="158,962,555,217,826,360,000 (Enigma Machine) - Numberphile">
            <a:hlinkClick r:id="" action="ppaction://media"/>
            <a:extLst>
              <a:ext uri="{FF2B5EF4-FFF2-40B4-BE49-F238E27FC236}">
                <a16:creationId xmlns:a16="http://schemas.microsoft.com/office/drawing/2014/main" id="{B3CF210A-4773-71A7-C545-3E207AA2CD81}"/>
              </a:ext>
            </a:extLst>
          </p:cNvPr>
          <p:cNvPicPr>
            <a:picLocks noGrp="1" noRot="1" noChangeAspect="1"/>
          </p:cNvPicPr>
          <p:nvPr>
            <p:ph idx="1"/>
            <a:videoFile r:link="rId1"/>
          </p:nvPr>
        </p:nvPicPr>
        <p:blipFill>
          <a:blip r:embed="rId3"/>
          <a:stretch>
            <a:fillRect/>
          </a:stretch>
        </p:blipFill>
        <p:spPr>
          <a:xfrm>
            <a:off x="1903413" y="1438275"/>
            <a:ext cx="8386762" cy="4738688"/>
          </a:xfrm>
          <a:prstGeom prst="rect">
            <a:avLst/>
          </a:prstGeom>
        </p:spPr>
      </p:pic>
      <p:sp>
        <p:nvSpPr>
          <p:cNvPr id="4" name="Slide Number Placeholder 3">
            <a:extLst>
              <a:ext uri="{FF2B5EF4-FFF2-40B4-BE49-F238E27FC236}">
                <a16:creationId xmlns:a16="http://schemas.microsoft.com/office/drawing/2014/main" id="{3303450A-6692-6BE7-49C2-DD9801724710}"/>
              </a:ext>
            </a:extLst>
          </p:cNvPr>
          <p:cNvSpPr>
            <a:spLocks noGrp="1"/>
          </p:cNvSpPr>
          <p:nvPr>
            <p:ph type="sldNum" sz="quarter" idx="12"/>
          </p:nvPr>
        </p:nvSpPr>
        <p:spPr/>
        <p:txBody>
          <a:bodyPr/>
          <a:lstStyle/>
          <a:p>
            <a:fld id="{094C11E7-507F-4422-8D09-51AE60736DD4}" type="slidenum">
              <a:rPr lang="en-US" smtClean="0"/>
              <a:t>7</a:t>
            </a:fld>
            <a:endParaRPr lang="en-US"/>
          </a:p>
        </p:txBody>
      </p:sp>
    </p:spTree>
    <p:extLst>
      <p:ext uri="{BB962C8B-B14F-4D97-AF65-F5344CB8AC3E}">
        <p14:creationId xmlns:p14="http://schemas.microsoft.com/office/powerpoint/2010/main" val="689320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Slide Number Placeholder 4">
            <a:extLst>
              <a:ext uri="{FF2B5EF4-FFF2-40B4-BE49-F238E27FC236}">
                <a16:creationId xmlns:a16="http://schemas.microsoft.com/office/drawing/2014/main" id="{B584916D-0BA5-4102-AC57-BB687C830245}"/>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988179F2-A5B5-427D-B7EB-8391AACBE107}" type="slidenum">
              <a:rPr lang="en-US" altLang="en-US" sz="1200">
                <a:latin typeface="Garamond" panose="02020404030301010803" pitchFamily="18" charset="0"/>
              </a:rPr>
              <a:pPr>
                <a:spcBef>
                  <a:spcPct val="0"/>
                </a:spcBef>
                <a:buClrTx/>
                <a:buSzTx/>
                <a:buFontTx/>
                <a:buNone/>
              </a:pPr>
              <a:t>8</a:t>
            </a:fld>
            <a:endParaRPr lang="en-US" altLang="en-US" sz="1200">
              <a:latin typeface="Garamond" panose="02020404030301010803" pitchFamily="18" charset="0"/>
            </a:endParaRPr>
          </a:p>
        </p:txBody>
      </p:sp>
      <p:sp>
        <p:nvSpPr>
          <p:cNvPr id="22532" name="Rectangle 2">
            <a:extLst>
              <a:ext uri="{FF2B5EF4-FFF2-40B4-BE49-F238E27FC236}">
                <a16:creationId xmlns:a16="http://schemas.microsoft.com/office/drawing/2014/main" id="{70F503C4-B1A3-4EE4-BE1A-A991BB7A0900}"/>
              </a:ext>
            </a:extLst>
          </p:cNvPr>
          <p:cNvSpPr>
            <a:spLocks noGrp="1" noChangeArrowheads="1"/>
          </p:cNvSpPr>
          <p:nvPr>
            <p:ph type="title"/>
          </p:nvPr>
        </p:nvSpPr>
        <p:spPr/>
        <p:txBody>
          <a:bodyPr/>
          <a:lstStyle/>
          <a:p>
            <a:pPr eaLnBrk="1" hangingPunct="1"/>
            <a:r>
              <a:rPr lang="en-US" altLang="en-US"/>
              <a:t>Binary Operations</a:t>
            </a:r>
          </a:p>
        </p:txBody>
      </p:sp>
      <p:sp>
        <p:nvSpPr>
          <p:cNvPr id="22533" name="Rectangle 3">
            <a:extLst>
              <a:ext uri="{FF2B5EF4-FFF2-40B4-BE49-F238E27FC236}">
                <a16:creationId xmlns:a16="http://schemas.microsoft.com/office/drawing/2014/main" id="{FCF76096-5370-4034-B408-A1DDCEAC1622}"/>
              </a:ext>
            </a:extLst>
          </p:cNvPr>
          <p:cNvSpPr>
            <a:spLocks noGrp="1" noChangeArrowheads="1"/>
          </p:cNvSpPr>
          <p:nvPr>
            <p:ph type="body" idx="1"/>
          </p:nvPr>
        </p:nvSpPr>
        <p:spPr/>
        <p:txBody>
          <a:bodyPr/>
          <a:lstStyle/>
          <a:p>
            <a:pPr eaLnBrk="1" hangingPunct="1">
              <a:lnSpc>
                <a:spcPct val="80000"/>
              </a:lnSpc>
            </a:pPr>
            <a:r>
              <a:rPr lang="en-US" altLang="en-US" sz="3600" dirty="0"/>
              <a:t>Binary Operations</a:t>
            </a:r>
          </a:p>
          <a:p>
            <a:pPr lvl="1" eaLnBrk="1" hangingPunct="1">
              <a:lnSpc>
                <a:spcPct val="80000"/>
              </a:lnSpc>
            </a:pPr>
            <a:r>
              <a:rPr lang="en-US" altLang="en-US" sz="3600" dirty="0"/>
              <a:t>AND, OR, XOR</a:t>
            </a:r>
          </a:p>
          <a:p>
            <a:pPr lvl="1" eaLnBrk="1" hangingPunct="1">
              <a:lnSpc>
                <a:spcPct val="80000"/>
              </a:lnSpc>
              <a:buFont typeface="Wingdings" panose="05000000000000000000" pitchFamily="2" charset="2"/>
              <a:buNone/>
            </a:pPr>
            <a:endParaRPr lang="en-US" altLang="en-US" sz="2800" dirty="0"/>
          </a:p>
          <a:p>
            <a:pPr eaLnBrk="1" hangingPunct="1">
              <a:lnSpc>
                <a:spcPct val="80000"/>
              </a:lnSpc>
            </a:pPr>
            <a:r>
              <a:rPr lang="en-US" altLang="en-US" sz="3600" dirty="0"/>
              <a:t>Example of AND operation</a:t>
            </a:r>
          </a:p>
          <a:p>
            <a:pPr lvl="3" eaLnBrk="1" hangingPunct="1">
              <a:lnSpc>
                <a:spcPct val="80000"/>
              </a:lnSpc>
              <a:buFont typeface="Wingdings" panose="05000000000000000000" pitchFamily="2" charset="2"/>
              <a:buNone/>
            </a:pPr>
            <a:endParaRPr lang="en-US" altLang="en-US" sz="3000" dirty="0"/>
          </a:p>
          <a:p>
            <a:pPr lvl="3" eaLnBrk="1" hangingPunct="1">
              <a:lnSpc>
                <a:spcPct val="80000"/>
              </a:lnSpc>
              <a:buFont typeface="Wingdings" panose="05000000000000000000" pitchFamily="2" charset="2"/>
              <a:buNone/>
            </a:pPr>
            <a:endParaRPr lang="en-US" altLang="en-US" sz="2800" dirty="0"/>
          </a:p>
          <a:p>
            <a:pPr lvl="3" eaLnBrk="1" hangingPunct="1">
              <a:lnSpc>
                <a:spcPct val="80000"/>
              </a:lnSpc>
              <a:buFont typeface="Wingdings" panose="05000000000000000000" pitchFamily="2" charset="2"/>
              <a:buNone/>
            </a:pPr>
            <a:endParaRPr lang="en-US" altLang="en-US" sz="2800" dirty="0"/>
          </a:p>
        </p:txBody>
      </p:sp>
      <p:graphicFrame>
        <p:nvGraphicFramePr>
          <p:cNvPr id="392231" name="Group 39">
            <a:extLst>
              <a:ext uri="{FF2B5EF4-FFF2-40B4-BE49-F238E27FC236}">
                <a16:creationId xmlns:a16="http://schemas.microsoft.com/office/drawing/2014/main" id="{5B26BEC9-9CF8-4715-AA59-F8DC794623E7}"/>
              </a:ext>
            </a:extLst>
          </p:cNvPr>
          <p:cNvGraphicFramePr>
            <a:graphicFrameLocks noGrp="1"/>
          </p:cNvGraphicFramePr>
          <p:nvPr/>
        </p:nvGraphicFramePr>
        <p:xfrm>
          <a:off x="4572000" y="3733800"/>
          <a:ext cx="2362200" cy="1828800"/>
        </p:xfrm>
        <a:graphic>
          <a:graphicData uri="http://schemas.openxmlformats.org/drawingml/2006/table">
            <a:tbl>
              <a:tblPr/>
              <a:tblGrid>
                <a:gridCol w="590550">
                  <a:extLst>
                    <a:ext uri="{9D8B030D-6E8A-4147-A177-3AD203B41FA5}">
                      <a16:colId xmlns:a16="http://schemas.microsoft.com/office/drawing/2014/main" val="20000"/>
                    </a:ext>
                  </a:extLst>
                </a:gridCol>
                <a:gridCol w="590550">
                  <a:extLst>
                    <a:ext uri="{9D8B030D-6E8A-4147-A177-3AD203B41FA5}">
                      <a16:colId xmlns:a16="http://schemas.microsoft.com/office/drawing/2014/main" val="20001"/>
                    </a:ext>
                  </a:extLst>
                </a:gridCol>
                <a:gridCol w="590550">
                  <a:extLst>
                    <a:ext uri="{9D8B030D-6E8A-4147-A177-3AD203B41FA5}">
                      <a16:colId xmlns:a16="http://schemas.microsoft.com/office/drawing/2014/main" val="20002"/>
                    </a:ext>
                  </a:extLst>
                </a:gridCol>
                <a:gridCol w="590550">
                  <a:extLst>
                    <a:ext uri="{9D8B030D-6E8A-4147-A177-3AD203B41FA5}">
                      <a16:colId xmlns:a16="http://schemas.microsoft.com/office/drawing/2014/main" val="20003"/>
                    </a:ext>
                  </a:extLst>
                </a:gridCol>
              </a:tblGrid>
              <a:tr h="4064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4064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dirty="0">
                          <a:ln>
                            <a:noFill/>
                          </a:ln>
                          <a:solidFill>
                            <a:schemeClr val="accent1"/>
                          </a:solidFill>
                          <a:effectLst/>
                          <a:latin typeface="Arial" charset="0"/>
                          <a:cs typeface="Arial" charset="0"/>
                        </a:rPr>
                        <a:t>0</a:t>
                      </a:r>
                      <a:endParaRPr kumimoji="0" lang="en-US" sz="4000" b="1" i="0" u="none" strike="noStrike" cap="none" normalizeH="0" baseline="0" dirty="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064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dirty="0">
                          <a:ln>
                            <a:noFill/>
                          </a:ln>
                          <a:solidFill>
                            <a:schemeClr val="accent1"/>
                          </a:solidFill>
                          <a:effectLst/>
                          <a:latin typeface="Arial" charset="0"/>
                          <a:cs typeface="Arial" charset="0"/>
                        </a:rPr>
                        <a:t>1</a:t>
                      </a:r>
                      <a:endParaRPr kumimoji="0" lang="en-US" sz="4000" b="1" i="0" u="none" strike="noStrike" cap="none" normalizeH="0" baseline="0" dirty="0">
                        <a:ln>
                          <a:noFill/>
                        </a:ln>
                        <a:solidFill>
                          <a:schemeClr val="accent1"/>
                        </a:solidFill>
                        <a:effectLst/>
                        <a:latin typeface="Arial" charset="0"/>
                      </a:endParaRPr>
                    </a:p>
                  </a:txBody>
                  <a:tcPr marL="0" marR="0" marT="0" marB="0" anchor="b" horzOverflow="overflow">
                    <a:lnL>
                      <a:noFill/>
                    </a:lnL>
                    <a:lnR cap="flat">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Slide Number Placeholder 4">
            <a:extLst>
              <a:ext uri="{FF2B5EF4-FFF2-40B4-BE49-F238E27FC236}">
                <a16:creationId xmlns:a16="http://schemas.microsoft.com/office/drawing/2014/main" id="{4299DBBB-CDBA-49A3-98C4-739E0E67A42A}"/>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AAB3E103-4B62-40E5-8B67-66261FBBDB5C}" type="slidenum">
              <a:rPr lang="en-US" altLang="en-US" sz="1200">
                <a:latin typeface="Garamond" panose="02020404030301010803" pitchFamily="18" charset="0"/>
              </a:rPr>
              <a:pPr>
                <a:spcBef>
                  <a:spcPct val="0"/>
                </a:spcBef>
                <a:buClrTx/>
                <a:buSzTx/>
                <a:buFontTx/>
                <a:buNone/>
              </a:pPr>
              <a:t>9</a:t>
            </a:fld>
            <a:endParaRPr lang="en-US" altLang="en-US" sz="1200">
              <a:latin typeface="Garamond" panose="02020404030301010803" pitchFamily="18" charset="0"/>
            </a:endParaRPr>
          </a:p>
        </p:txBody>
      </p:sp>
      <p:sp>
        <p:nvSpPr>
          <p:cNvPr id="24580" name="Rectangle 2">
            <a:extLst>
              <a:ext uri="{FF2B5EF4-FFF2-40B4-BE49-F238E27FC236}">
                <a16:creationId xmlns:a16="http://schemas.microsoft.com/office/drawing/2014/main" id="{783B7CBB-C7C7-48EB-867B-0CCB819B5ACC}"/>
              </a:ext>
            </a:extLst>
          </p:cNvPr>
          <p:cNvSpPr>
            <a:spLocks noGrp="1" noChangeArrowheads="1"/>
          </p:cNvSpPr>
          <p:nvPr>
            <p:ph type="title"/>
          </p:nvPr>
        </p:nvSpPr>
        <p:spPr/>
        <p:txBody>
          <a:bodyPr/>
          <a:lstStyle/>
          <a:p>
            <a:pPr eaLnBrk="1" hangingPunct="1"/>
            <a:r>
              <a:rPr lang="en-US" altLang="en-US"/>
              <a:t>Binary Operations</a:t>
            </a:r>
          </a:p>
        </p:txBody>
      </p:sp>
      <p:sp>
        <p:nvSpPr>
          <p:cNvPr id="24581" name="Rectangle 3">
            <a:extLst>
              <a:ext uri="{FF2B5EF4-FFF2-40B4-BE49-F238E27FC236}">
                <a16:creationId xmlns:a16="http://schemas.microsoft.com/office/drawing/2014/main" id="{8F4C2C10-10BD-4D47-BA68-530E69058446}"/>
              </a:ext>
            </a:extLst>
          </p:cNvPr>
          <p:cNvSpPr>
            <a:spLocks noGrp="1" noChangeArrowheads="1"/>
          </p:cNvSpPr>
          <p:nvPr>
            <p:ph type="body" idx="1"/>
          </p:nvPr>
        </p:nvSpPr>
        <p:spPr/>
        <p:txBody>
          <a:bodyPr/>
          <a:lstStyle/>
          <a:p>
            <a:pPr eaLnBrk="1" hangingPunct="1"/>
            <a:r>
              <a:rPr lang="en-US" altLang="en-US" sz="3600" dirty="0"/>
              <a:t>Example of OR operation</a:t>
            </a:r>
          </a:p>
          <a:p>
            <a:pPr lvl="2" eaLnBrk="1" hangingPunct="1">
              <a:buFont typeface="Wingdings" panose="05000000000000000000" pitchFamily="2" charset="2"/>
              <a:buNone/>
            </a:pPr>
            <a:endParaRPr lang="en-US" altLang="en-US" sz="3000" dirty="0"/>
          </a:p>
          <a:p>
            <a:pPr lvl="2" eaLnBrk="1" hangingPunct="1">
              <a:buFont typeface="Wingdings" panose="05000000000000000000" pitchFamily="2" charset="2"/>
              <a:buNone/>
            </a:pPr>
            <a:endParaRPr lang="en-US" altLang="en-US" sz="2800" dirty="0"/>
          </a:p>
          <a:p>
            <a:pPr lvl="2" eaLnBrk="1" hangingPunct="1">
              <a:buFont typeface="Wingdings" panose="05000000000000000000" pitchFamily="2" charset="2"/>
              <a:buNone/>
            </a:pPr>
            <a:endParaRPr lang="en-US" altLang="en-US" sz="2700" dirty="0"/>
          </a:p>
        </p:txBody>
      </p:sp>
      <p:graphicFrame>
        <p:nvGraphicFramePr>
          <p:cNvPr id="393257" name="Group 41">
            <a:extLst>
              <a:ext uri="{FF2B5EF4-FFF2-40B4-BE49-F238E27FC236}">
                <a16:creationId xmlns:a16="http://schemas.microsoft.com/office/drawing/2014/main" id="{E4D9AD80-986B-415E-A28B-297739B5B6A8}"/>
              </a:ext>
            </a:extLst>
          </p:cNvPr>
          <p:cNvGraphicFramePr>
            <a:graphicFrameLocks noGrp="1"/>
          </p:cNvGraphicFramePr>
          <p:nvPr/>
        </p:nvGraphicFramePr>
        <p:xfrm>
          <a:off x="4267200" y="2514600"/>
          <a:ext cx="2514600" cy="1828800"/>
        </p:xfrm>
        <a:graphic>
          <a:graphicData uri="http://schemas.openxmlformats.org/drawingml/2006/table">
            <a:tbl>
              <a:tblPr/>
              <a:tblGrid>
                <a:gridCol w="628650">
                  <a:extLst>
                    <a:ext uri="{9D8B030D-6E8A-4147-A177-3AD203B41FA5}">
                      <a16:colId xmlns:a16="http://schemas.microsoft.com/office/drawing/2014/main" val="20000"/>
                    </a:ext>
                  </a:extLst>
                </a:gridCol>
                <a:gridCol w="628650">
                  <a:extLst>
                    <a:ext uri="{9D8B030D-6E8A-4147-A177-3AD203B41FA5}">
                      <a16:colId xmlns:a16="http://schemas.microsoft.com/office/drawing/2014/main" val="20001"/>
                    </a:ext>
                  </a:extLst>
                </a:gridCol>
                <a:gridCol w="628650">
                  <a:extLst>
                    <a:ext uri="{9D8B030D-6E8A-4147-A177-3AD203B41FA5}">
                      <a16:colId xmlns:a16="http://schemas.microsoft.com/office/drawing/2014/main" val="20002"/>
                    </a:ext>
                  </a:extLst>
                </a:gridCol>
                <a:gridCol w="628650">
                  <a:extLst>
                    <a:ext uri="{9D8B030D-6E8A-4147-A177-3AD203B41FA5}">
                      <a16:colId xmlns:a16="http://schemas.microsoft.com/office/drawing/2014/main" val="20003"/>
                    </a:ext>
                  </a:extLst>
                </a:gridCol>
              </a:tblGrid>
              <a:tr h="3810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3810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10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Slide Number Placeholder 4">
            <a:extLst>
              <a:ext uri="{FF2B5EF4-FFF2-40B4-BE49-F238E27FC236}">
                <a16:creationId xmlns:a16="http://schemas.microsoft.com/office/drawing/2014/main" id="{F5BB4EED-EDFB-4F98-BB6A-DD6E7E716028}"/>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AD75D659-7BA8-4E44-8322-CBEF74970B23}" type="slidenum">
              <a:rPr lang="en-US" altLang="en-US" sz="1200">
                <a:latin typeface="Garamond" panose="02020404030301010803" pitchFamily="18" charset="0"/>
              </a:rPr>
              <a:pPr>
                <a:spcBef>
                  <a:spcPct val="0"/>
                </a:spcBef>
                <a:buClrTx/>
                <a:buSzTx/>
                <a:buFontTx/>
                <a:buNone/>
              </a:pPr>
              <a:t>10</a:t>
            </a:fld>
            <a:endParaRPr lang="en-US" altLang="en-US" sz="1200">
              <a:latin typeface="Garamond" panose="02020404030301010803" pitchFamily="18" charset="0"/>
            </a:endParaRPr>
          </a:p>
        </p:txBody>
      </p:sp>
      <p:sp>
        <p:nvSpPr>
          <p:cNvPr id="26628" name="Rectangle 2">
            <a:extLst>
              <a:ext uri="{FF2B5EF4-FFF2-40B4-BE49-F238E27FC236}">
                <a16:creationId xmlns:a16="http://schemas.microsoft.com/office/drawing/2014/main" id="{C827737D-D465-4F84-96A0-E8B14D9C3E81}"/>
              </a:ext>
            </a:extLst>
          </p:cNvPr>
          <p:cNvSpPr>
            <a:spLocks noGrp="1" noChangeArrowheads="1"/>
          </p:cNvSpPr>
          <p:nvPr>
            <p:ph type="title"/>
          </p:nvPr>
        </p:nvSpPr>
        <p:spPr/>
        <p:txBody>
          <a:bodyPr/>
          <a:lstStyle/>
          <a:p>
            <a:pPr eaLnBrk="1" hangingPunct="1"/>
            <a:r>
              <a:rPr lang="en-US" altLang="en-US"/>
              <a:t>Binary Operations</a:t>
            </a:r>
          </a:p>
        </p:txBody>
      </p:sp>
      <p:sp>
        <p:nvSpPr>
          <p:cNvPr id="26629" name="Rectangle 3">
            <a:extLst>
              <a:ext uri="{FF2B5EF4-FFF2-40B4-BE49-F238E27FC236}">
                <a16:creationId xmlns:a16="http://schemas.microsoft.com/office/drawing/2014/main" id="{1CB99E2D-5E8A-47E1-8251-23EEEE8B80BB}"/>
              </a:ext>
            </a:extLst>
          </p:cNvPr>
          <p:cNvSpPr>
            <a:spLocks noGrp="1" noChangeArrowheads="1"/>
          </p:cNvSpPr>
          <p:nvPr>
            <p:ph type="body" idx="1"/>
          </p:nvPr>
        </p:nvSpPr>
        <p:spPr/>
        <p:txBody>
          <a:bodyPr/>
          <a:lstStyle/>
          <a:p>
            <a:pPr eaLnBrk="1" hangingPunct="1"/>
            <a:r>
              <a:rPr lang="en-US" altLang="en-US" sz="3600" dirty="0"/>
              <a:t>Example of XOR operation</a:t>
            </a:r>
          </a:p>
          <a:p>
            <a:pPr lvl="2" eaLnBrk="1" hangingPunct="1">
              <a:buFont typeface="Wingdings" panose="05000000000000000000" pitchFamily="2" charset="2"/>
              <a:buNone/>
            </a:pPr>
            <a:endParaRPr lang="en-US" altLang="en-US" dirty="0"/>
          </a:p>
          <a:p>
            <a:pPr lvl="2" eaLnBrk="1" hangingPunct="1"/>
            <a:endParaRPr lang="en-US" altLang="en-US" dirty="0"/>
          </a:p>
          <a:p>
            <a:pPr lvl="2" eaLnBrk="1" hangingPunct="1">
              <a:buFont typeface="Wingdings" panose="05000000000000000000" pitchFamily="2" charset="2"/>
              <a:buNone/>
            </a:pPr>
            <a:endParaRPr lang="en-US" altLang="en-US" sz="3000" dirty="0"/>
          </a:p>
          <a:p>
            <a:pPr lvl="2" eaLnBrk="1" hangingPunct="1">
              <a:buFont typeface="Wingdings" panose="05000000000000000000" pitchFamily="2" charset="2"/>
              <a:buNone/>
            </a:pPr>
            <a:endParaRPr lang="en-US" altLang="en-US" sz="2700" dirty="0"/>
          </a:p>
          <a:p>
            <a:pPr lvl="2" eaLnBrk="1" hangingPunct="1"/>
            <a:endParaRPr lang="en-US" altLang="en-US" sz="2700" dirty="0"/>
          </a:p>
          <a:p>
            <a:pPr lvl="2" eaLnBrk="1" hangingPunct="1"/>
            <a:endParaRPr lang="en-US" altLang="en-US" sz="2700" dirty="0"/>
          </a:p>
          <a:p>
            <a:pPr lvl="2" eaLnBrk="1" hangingPunct="1">
              <a:buFont typeface="Wingdings" panose="05000000000000000000" pitchFamily="2" charset="2"/>
              <a:buNone/>
            </a:pPr>
            <a:endParaRPr lang="en-US" altLang="en-US" sz="2700" dirty="0"/>
          </a:p>
        </p:txBody>
      </p:sp>
      <p:graphicFrame>
        <p:nvGraphicFramePr>
          <p:cNvPr id="396329" name="Group 41">
            <a:extLst>
              <a:ext uri="{FF2B5EF4-FFF2-40B4-BE49-F238E27FC236}">
                <a16:creationId xmlns:a16="http://schemas.microsoft.com/office/drawing/2014/main" id="{212BAA05-4BB0-4E82-B98B-42D561A7F0F8}"/>
              </a:ext>
            </a:extLst>
          </p:cNvPr>
          <p:cNvGraphicFramePr>
            <a:graphicFrameLocks noGrp="1"/>
          </p:cNvGraphicFramePr>
          <p:nvPr/>
        </p:nvGraphicFramePr>
        <p:xfrm>
          <a:off x="4343400" y="2514600"/>
          <a:ext cx="2286000" cy="1828800"/>
        </p:xfrm>
        <a:graphic>
          <a:graphicData uri="http://schemas.openxmlformats.org/drawingml/2006/table">
            <a:tbl>
              <a:tblPr/>
              <a:tblGrid>
                <a:gridCol w="571500">
                  <a:extLst>
                    <a:ext uri="{9D8B030D-6E8A-4147-A177-3AD203B41FA5}">
                      <a16:colId xmlns:a16="http://schemas.microsoft.com/office/drawing/2014/main" val="20000"/>
                    </a:ext>
                  </a:extLst>
                </a:gridCol>
                <a:gridCol w="571500">
                  <a:extLst>
                    <a:ext uri="{9D8B030D-6E8A-4147-A177-3AD203B41FA5}">
                      <a16:colId xmlns:a16="http://schemas.microsoft.com/office/drawing/2014/main" val="20001"/>
                    </a:ext>
                  </a:extLst>
                </a:gridCol>
                <a:gridCol w="571500">
                  <a:extLst>
                    <a:ext uri="{9D8B030D-6E8A-4147-A177-3AD203B41FA5}">
                      <a16:colId xmlns:a16="http://schemas.microsoft.com/office/drawing/2014/main" val="20002"/>
                    </a:ext>
                  </a:extLst>
                </a:gridCol>
                <a:gridCol w="571500">
                  <a:extLst>
                    <a:ext uri="{9D8B030D-6E8A-4147-A177-3AD203B41FA5}">
                      <a16:colId xmlns:a16="http://schemas.microsoft.com/office/drawing/2014/main" val="20003"/>
                    </a:ext>
                  </a:extLst>
                </a:gridCol>
              </a:tblGrid>
              <a:tr h="3556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cap="flat">
                      <a:noFill/>
                    </a:lnT>
                    <a:lnB>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3556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55600">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cap="flat">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1</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4000" b="1" i="0" u="none" strike="noStrike" cap="none" normalizeH="0" baseline="0">
                          <a:ln>
                            <a:noFill/>
                          </a:ln>
                          <a:solidFill>
                            <a:schemeClr val="accent1"/>
                          </a:solidFill>
                          <a:effectLst/>
                          <a:latin typeface="Arial" charset="0"/>
                          <a:cs typeface="Arial" charset="0"/>
                        </a:rPr>
                        <a:t>0</a:t>
                      </a:r>
                      <a:endParaRPr kumimoji="0" lang="en-US" sz="4000" b="1" i="0" u="none" strike="noStrike" cap="none" normalizeH="0" baseline="0">
                        <a:ln>
                          <a:noFill/>
                        </a:ln>
                        <a:solidFill>
                          <a:schemeClr val="accent1"/>
                        </a:solidFill>
                        <a:effectLst/>
                        <a:latin typeface="Arial" charset="0"/>
                      </a:endParaRPr>
                    </a:p>
                  </a:txBody>
                  <a:tcPr marL="0" marR="0" marT="0" marB="0" anchor="b" horzOverflow="overflow">
                    <a:lnL>
                      <a:noFill/>
                    </a:lnL>
                    <a:lnR cap="flat">
                      <a:noFill/>
                    </a:lnR>
                    <a:lnT w="12700" cap="flat" cmpd="sng" algn="ctr">
                      <a:solidFill>
                        <a:srgbClr val="000000"/>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Slide Number Placeholder 4">
            <a:extLst>
              <a:ext uri="{FF2B5EF4-FFF2-40B4-BE49-F238E27FC236}">
                <a16:creationId xmlns:a16="http://schemas.microsoft.com/office/drawing/2014/main" id="{9D9A3FA8-84C2-4532-8F5D-59D1F462684A}"/>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A693C533-6851-4563-B592-31DC4EE22E04}" type="slidenum">
              <a:rPr lang="en-US" altLang="en-US" sz="1200">
                <a:latin typeface="Garamond" panose="02020404030301010803" pitchFamily="18" charset="0"/>
              </a:rPr>
              <a:pPr>
                <a:spcBef>
                  <a:spcPct val="0"/>
                </a:spcBef>
                <a:buClrTx/>
                <a:buSzTx/>
                <a:buFontTx/>
                <a:buNone/>
              </a:pPr>
              <a:t>11</a:t>
            </a:fld>
            <a:endParaRPr lang="en-US" altLang="en-US" sz="1200">
              <a:latin typeface="Garamond" panose="02020404030301010803" pitchFamily="18" charset="0"/>
            </a:endParaRPr>
          </a:p>
        </p:txBody>
      </p:sp>
      <p:sp>
        <p:nvSpPr>
          <p:cNvPr id="28676" name="Rectangle 2">
            <a:extLst>
              <a:ext uri="{FF2B5EF4-FFF2-40B4-BE49-F238E27FC236}">
                <a16:creationId xmlns:a16="http://schemas.microsoft.com/office/drawing/2014/main" id="{80A63A5B-F0A4-4A8B-9D26-8061FB7015C1}"/>
              </a:ext>
            </a:extLst>
          </p:cNvPr>
          <p:cNvSpPr>
            <a:spLocks noGrp="1" noChangeArrowheads="1"/>
          </p:cNvSpPr>
          <p:nvPr>
            <p:ph type="title"/>
          </p:nvPr>
        </p:nvSpPr>
        <p:spPr/>
        <p:txBody>
          <a:bodyPr/>
          <a:lstStyle/>
          <a:p>
            <a:pPr eaLnBrk="1" hangingPunct="1"/>
            <a:r>
              <a:rPr lang="en-US" altLang="en-US"/>
              <a:t>Binary Operations</a:t>
            </a:r>
          </a:p>
        </p:txBody>
      </p:sp>
      <p:sp>
        <p:nvSpPr>
          <p:cNvPr id="28677" name="Rectangle 3">
            <a:extLst>
              <a:ext uri="{FF2B5EF4-FFF2-40B4-BE49-F238E27FC236}">
                <a16:creationId xmlns:a16="http://schemas.microsoft.com/office/drawing/2014/main" id="{AC6B733D-323C-409A-A7AC-2C12958761D1}"/>
              </a:ext>
            </a:extLst>
          </p:cNvPr>
          <p:cNvSpPr>
            <a:spLocks noGrp="1" noChangeArrowheads="1"/>
          </p:cNvSpPr>
          <p:nvPr>
            <p:ph type="body" idx="1"/>
          </p:nvPr>
        </p:nvSpPr>
        <p:spPr/>
        <p:txBody>
          <a:bodyPr>
            <a:normAutofit/>
          </a:bodyPr>
          <a:lstStyle/>
          <a:p>
            <a:pPr eaLnBrk="1" hangingPunct="1"/>
            <a:r>
              <a:rPr lang="en-US" altLang="en-US" sz="3600" dirty="0"/>
              <a:t>XOR </a:t>
            </a:r>
            <a:r>
              <a:rPr lang="en-US" altLang="en-US" sz="4000" dirty="0"/>
              <a:t>only reversible binary operation </a:t>
            </a:r>
          </a:p>
          <a:p>
            <a:pPr lvl="1" eaLnBrk="1" hangingPunct="1"/>
            <a:r>
              <a:rPr lang="en-US" altLang="en-US" sz="3600" dirty="0"/>
              <a:t>Convert plain text to ASCII</a:t>
            </a:r>
          </a:p>
          <a:p>
            <a:pPr lvl="1" eaLnBrk="1" hangingPunct="1"/>
            <a:endParaRPr lang="en-US" altLang="en-US" sz="3600" dirty="0"/>
          </a:p>
          <a:p>
            <a:pPr lvl="2" eaLnBrk="1" hangingPunct="1">
              <a:buFont typeface="Wingdings" panose="05000000000000000000" pitchFamily="2" charset="2"/>
              <a:buNone/>
            </a:pPr>
            <a:r>
              <a:rPr lang="en-US" altLang="en-US" sz="3200" dirty="0"/>
              <a:t>A DOG = 065 032 068 079 071</a:t>
            </a:r>
          </a:p>
          <a:p>
            <a:pPr lvl="2" eaLnBrk="1" hangingPunct="1"/>
            <a:endParaRPr lang="en-US" altLang="en-US" sz="3200" dirty="0"/>
          </a:p>
          <a:p>
            <a:pPr lvl="1" eaLnBrk="1" hangingPunct="1"/>
            <a:r>
              <a:rPr lang="en-US" altLang="en-US" sz="3600" dirty="0"/>
              <a:t>Then, convert ASCII to binary</a:t>
            </a:r>
          </a:p>
          <a:p>
            <a:pPr lvl="1" eaLnBrk="1" hangingPunct="1"/>
            <a:endParaRPr lang="en-US" altLang="en-US" sz="3600" dirty="0"/>
          </a:p>
          <a:p>
            <a:pPr lvl="2" eaLnBrk="1" hangingPunct="1">
              <a:buFont typeface="Wingdings" panose="05000000000000000000" pitchFamily="2" charset="2"/>
              <a:buNone/>
            </a:pPr>
            <a:r>
              <a:rPr lang="en-US" altLang="en-US" sz="3200" dirty="0"/>
              <a:t>0100 0001, 0100 0100, 0100 1111, 0100 0111</a:t>
            </a:r>
          </a:p>
          <a:p>
            <a:pPr lvl="2" eaLnBrk="1" hangingPunct="1">
              <a:buFont typeface="Wingdings" panose="05000000000000000000" pitchFamily="2" charset="2"/>
              <a:buNone/>
            </a:pPr>
            <a:endParaRPr lang="en-US" altLang="en-US" sz="3200" dirty="0"/>
          </a:p>
          <a:p>
            <a:pPr lvl="2" eaLnBrk="1" hangingPunct="1"/>
            <a:endParaRPr lang="en-US" alt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Slide Number Placeholder 4">
            <a:extLst>
              <a:ext uri="{FF2B5EF4-FFF2-40B4-BE49-F238E27FC236}">
                <a16:creationId xmlns:a16="http://schemas.microsoft.com/office/drawing/2014/main" id="{614B3390-9328-41BF-AD80-2912BA440D13}"/>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1FA5BFEC-D70D-458E-80E1-74F8BDB47742}" type="slidenum">
              <a:rPr lang="en-US" altLang="en-US" sz="1200">
                <a:latin typeface="Garamond" panose="02020404030301010803" pitchFamily="18" charset="0"/>
              </a:rPr>
              <a:pPr>
                <a:spcBef>
                  <a:spcPct val="0"/>
                </a:spcBef>
                <a:buClrTx/>
                <a:buSzTx/>
                <a:buFontTx/>
                <a:buNone/>
              </a:pPr>
              <a:t>12</a:t>
            </a:fld>
            <a:endParaRPr lang="en-US" altLang="en-US" sz="1200">
              <a:latin typeface="Garamond" panose="02020404030301010803" pitchFamily="18" charset="0"/>
            </a:endParaRPr>
          </a:p>
        </p:txBody>
      </p:sp>
      <p:sp>
        <p:nvSpPr>
          <p:cNvPr id="30724" name="Rectangle 2">
            <a:extLst>
              <a:ext uri="{FF2B5EF4-FFF2-40B4-BE49-F238E27FC236}">
                <a16:creationId xmlns:a16="http://schemas.microsoft.com/office/drawing/2014/main" id="{6BDBD904-6C26-4CF3-B01E-D9DAE181899E}"/>
              </a:ext>
            </a:extLst>
          </p:cNvPr>
          <p:cNvSpPr>
            <a:spLocks noGrp="1" noChangeArrowheads="1"/>
          </p:cNvSpPr>
          <p:nvPr>
            <p:ph type="title"/>
          </p:nvPr>
        </p:nvSpPr>
        <p:spPr/>
        <p:txBody>
          <a:bodyPr/>
          <a:lstStyle/>
          <a:p>
            <a:pPr eaLnBrk="1" hangingPunct="1"/>
            <a:r>
              <a:rPr lang="en-US" altLang="en-US"/>
              <a:t>Binary Operations</a:t>
            </a:r>
          </a:p>
        </p:txBody>
      </p:sp>
      <p:sp>
        <p:nvSpPr>
          <p:cNvPr id="30725" name="Rectangle 3">
            <a:extLst>
              <a:ext uri="{FF2B5EF4-FFF2-40B4-BE49-F238E27FC236}">
                <a16:creationId xmlns:a16="http://schemas.microsoft.com/office/drawing/2014/main" id="{BE459991-639F-4408-8244-76ABE321402A}"/>
              </a:ext>
            </a:extLst>
          </p:cNvPr>
          <p:cNvSpPr>
            <a:spLocks noGrp="1" noChangeArrowheads="1"/>
          </p:cNvSpPr>
          <p:nvPr>
            <p:ph type="body" idx="1"/>
          </p:nvPr>
        </p:nvSpPr>
        <p:spPr/>
        <p:txBody>
          <a:bodyPr>
            <a:normAutofit/>
          </a:bodyPr>
          <a:lstStyle/>
          <a:p>
            <a:pPr eaLnBrk="1" hangingPunct="1"/>
            <a:r>
              <a:rPr lang="en-US" altLang="en-US" sz="4000" dirty="0"/>
              <a:t>XOR the ASCII</a:t>
            </a:r>
          </a:p>
          <a:p>
            <a:pPr lvl="1" eaLnBrk="1" hangingPunct="1"/>
            <a:endParaRPr lang="en-US" altLang="en-US" sz="3600" dirty="0"/>
          </a:p>
          <a:p>
            <a:pPr lvl="2" eaLnBrk="1" hangingPunct="1">
              <a:buFont typeface="Wingdings" panose="05000000000000000000" pitchFamily="2" charset="2"/>
              <a:buNone/>
            </a:pPr>
            <a:r>
              <a:rPr lang="en-US" altLang="en-US" sz="3200" dirty="0"/>
              <a:t>0100 0001, 0100 0100, 0100 1111, 0100 0111</a:t>
            </a:r>
          </a:p>
          <a:p>
            <a:pPr lvl="2" eaLnBrk="1" hangingPunct="1">
              <a:buFont typeface="Wingdings" panose="05000000000000000000" pitchFamily="2" charset="2"/>
              <a:buNone/>
            </a:pPr>
            <a:r>
              <a:rPr lang="en-US" altLang="en-US" sz="3200" u="sng" dirty="0"/>
              <a:t>1111 0111, 1111 0111, 1111 0111, 1111 0111</a:t>
            </a:r>
          </a:p>
          <a:p>
            <a:pPr lvl="2" eaLnBrk="1" hangingPunct="1">
              <a:buFont typeface="Wingdings" panose="05000000000000000000" pitchFamily="2" charset="2"/>
              <a:buNone/>
            </a:pPr>
            <a:r>
              <a:rPr lang="en-US" altLang="en-US" sz="3200" dirty="0"/>
              <a:t>1011 0110, 1011 0011, 1011 1000, 1011 0000</a:t>
            </a:r>
          </a:p>
          <a:p>
            <a:pPr lvl="1" eaLnBrk="1" hangingPunct="1"/>
            <a:endParaRPr lang="en-US" altLang="en-US" sz="3600" dirty="0"/>
          </a:p>
          <a:p>
            <a:pPr eaLnBrk="1" hangingPunct="1"/>
            <a:r>
              <a:rPr lang="en-US" altLang="en-US" sz="4000" dirty="0"/>
              <a:t>Result is cipher text.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Slide Number Placeholder 4">
            <a:extLst>
              <a:ext uri="{FF2B5EF4-FFF2-40B4-BE49-F238E27FC236}">
                <a16:creationId xmlns:a16="http://schemas.microsoft.com/office/drawing/2014/main" id="{8E029D73-2157-4085-9DD6-A7A23DFCD56B}"/>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59EF142A-BC38-4988-9452-FA4AAA29DA36}" type="slidenum">
              <a:rPr lang="en-US" altLang="en-US" sz="1200">
                <a:latin typeface="Garamond" panose="02020404030301010803" pitchFamily="18" charset="0"/>
              </a:rPr>
              <a:pPr>
                <a:spcBef>
                  <a:spcPct val="0"/>
                </a:spcBef>
                <a:buClrTx/>
                <a:buSzTx/>
                <a:buFontTx/>
                <a:buNone/>
              </a:pPr>
              <a:t>13</a:t>
            </a:fld>
            <a:endParaRPr lang="en-US" altLang="en-US" sz="1200">
              <a:latin typeface="Garamond" panose="02020404030301010803" pitchFamily="18" charset="0"/>
            </a:endParaRPr>
          </a:p>
        </p:txBody>
      </p:sp>
      <p:sp>
        <p:nvSpPr>
          <p:cNvPr id="32772" name="Rectangle 2">
            <a:extLst>
              <a:ext uri="{FF2B5EF4-FFF2-40B4-BE49-F238E27FC236}">
                <a16:creationId xmlns:a16="http://schemas.microsoft.com/office/drawing/2014/main" id="{21847D41-E6C2-4C86-8E4C-7B7D69EE34ED}"/>
              </a:ext>
            </a:extLst>
          </p:cNvPr>
          <p:cNvSpPr>
            <a:spLocks noGrp="1" noChangeArrowheads="1"/>
          </p:cNvSpPr>
          <p:nvPr>
            <p:ph type="title"/>
          </p:nvPr>
        </p:nvSpPr>
        <p:spPr/>
        <p:txBody>
          <a:bodyPr/>
          <a:lstStyle/>
          <a:p>
            <a:pPr eaLnBrk="1" hangingPunct="1"/>
            <a:r>
              <a:rPr lang="en-US" altLang="en-US"/>
              <a:t>Cryptography Terms</a:t>
            </a:r>
          </a:p>
        </p:txBody>
      </p:sp>
      <p:sp>
        <p:nvSpPr>
          <p:cNvPr id="32773" name="Rectangle 3">
            <a:extLst>
              <a:ext uri="{FF2B5EF4-FFF2-40B4-BE49-F238E27FC236}">
                <a16:creationId xmlns:a16="http://schemas.microsoft.com/office/drawing/2014/main" id="{36EFD840-E111-4FBD-9FE4-AED9D70F596C}"/>
              </a:ext>
            </a:extLst>
          </p:cNvPr>
          <p:cNvSpPr>
            <a:spLocks noGrp="1" noChangeArrowheads="1"/>
          </p:cNvSpPr>
          <p:nvPr>
            <p:ph type="body" idx="1"/>
          </p:nvPr>
        </p:nvSpPr>
        <p:spPr/>
        <p:txBody>
          <a:bodyPr/>
          <a:lstStyle/>
          <a:p>
            <a:pPr eaLnBrk="1" hangingPunct="1"/>
            <a:r>
              <a:rPr lang="en-US" altLang="en-US" sz="3200"/>
              <a:t>Key: The bits that are combined with the plain text to encrypt it. In some cases this is random numbers; in other cases it is the result of some mathematical operation.</a:t>
            </a:r>
          </a:p>
          <a:p>
            <a:pPr eaLnBrk="1" hangingPunct="1"/>
            <a:r>
              <a:rPr lang="en-US" altLang="en-US" sz="3200"/>
              <a:t>Plain text: The unencrypted text.</a:t>
            </a:r>
          </a:p>
          <a:p>
            <a:pPr eaLnBrk="1" hangingPunct="1"/>
            <a:r>
              <a:rPr lang="en-US" altLang="en-US" sz="3200"/>
              <a:t>Cipher text: The encrypted text.</a:t>
            </a:r>
          </a:p>
          <a:p>
            <a:pPr eaLnBrk="1" hangingPunct="1"/>
            <a:r>
              <a:rPr lang="en-US" altLang="en-US" sz="3200"/>
              <a:t>Algorithm:   A mathematical process for doing something.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Slide Number Placeholder 4">
            <a:extLst>
              <a:ext uri="{FF2B5EF4-FFF2-40B4-BE49-F238E27FC236}">
                <a16:creationId xmlns:a16="http://schemas.microsoft.com/office/drawing/2014/main" id="{EE96773E-F890-4767-8FB2-718E7466910C}"/>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5FFA2E14-7B8E-4D5C-BB07-0ADC6C42B37F}" type="slidenum">
              <a:rPr lang="en-US" altLang="en-US" sz="1200">
                <a:latin typeface="Garamond" panose="02020404030301010803" pitchFamily="18" charset="0"/>
              </a:rPr>
              <a:pPr>
                <a:spcBef>
                  <a:spcPct val="0"/>
                </a:spcBef>
                <a:buClrTx/>
                <a:buSzTx/>
                <a:buFontTx/>
                <a:buNone/>
              </a:pPr>
              <a:t>14</a:t>
            </a:fld>
            <a:endParaRPr lang="en-US" altLang="en-US" sz="1200">
              <a:latin typeface="Garamond" panose="02020404030301010803" pitchFamily="18" charset="0"/>
            </a:endParaRPr>
          </a:p>
        </p:txBody>
      </p:sp>
      <p:sp>
        <p:nvSpPr>
          <p:cNvPr id="34820" name="Rectangle 2">
            <a:extLst>
              <a:ext uri="{FF2B5EF4-FFF2-40B4-BE49-F238E27FC236}">
                <a16:creationId xmlns:a16="http://schemas.microsoft.com/office/drawing/2014/main" id="{C3C3FDE9-E994-4852-9155-15740D57496A}"/>
              </a:ext>
            </a:extLst>
          </p:cNvPr>
          <p:cNvSpPr>
            <a:spLocks noGrp="1" noChangeArrowheads="1"/>
          </p:cNvSpPr>
          <p:nvPr>
            <p:ph type="title"/>
          </p:nvPr>
        </p:nvSpPr>
        <p:spPr/>
        <p:txBody>
          <a:bodyPr/>
          <a:lstStyle/>
          <a:p>
            <a:pPr eaLnBrk="1" hangingPunct="1"/>
            <a:r>
              <a:rPr lang="en-US" altLang="en-US"/>
              <a:t>Modern Methods</a:t>
            </a:r>
          </a:p>
        </p:txBody>
      </p:sp>
      <p:sp>
        <p:nvSpPr>
          <p:cNvPr id="34821" name="Rectangle 3">
            <a:extLst>
              <a:ext uri="{FF2B5EF4-FFF2-40B4-BE49-F238E27FC236}">
                <a16:creationId xmlns:a16="http://schemas.microsoft.com/office/drawing/2014/main" id="{98889645-2FDE-4086-9C79-8A5C0CDEB7F8}"/>
              </a:ext>
            </a:extLst>
          </p:cNvPr>
          <p:cNvSpPr>
            <a:spLocks noGrp="1" noChangeArrowheads="1"/>
          </p:cNvSpPr>
          <p:nvPr>
            <p:ph type="body" idx="1"/>
          </p:nvPr>
        </p:nvSpPr>
        <p:spPr/>
        <p:txBody>
          <a:bodyPr/>
          <a:lstStyle/>
          <a:p>
            <a:pPr eaLnBrk="1" hangingPunct="1"/>
            <a:r>
              <a:rPr lang="en-US" altLang="en-US" dirty="0"/>
              <a:t>Single key (symmetric) encryption</a:t>
            </a:r>
          </a:p>
          <a:p>
            <a:pPr lvl="1" eaLnBrk="1" hangingPunct="1"/>
            <a:r>
              <a:rPr lang="en-US" altLang="en-US" sz="2800" dirty="0"/>
              <a:t>Same key to encrypt and decrypt</a:t>
            </a:r>
          </a:p>
          <a:p>
            <a:pPr lvl="2" eaLnBrk="1" hangingPunct="1"/>
            <a:r>
              <a:rPr lang="en-US" altLang="en-US" sz="2600" dirty="0"/>
              <a:t>Blowfish</a:t>
            </a:r>
          </a:p>
          <a:p>
            <a:pPr lvl="3" eaLnBrk="1" hangingPunct="1"/>
            <a:r>
              <a:rPr lang="en-US" altLang="en-US" sz="2400" dirty="0"/>
              <a:t>Symmetric block cipher</a:t>
            </a:r>
          </a:p>
          <a:p>
            <a:pPr lvl="3" eaLnBrk="1" hangingPunct="1"/>
            <a:r>
              <a:rPr lang="en-US" altLang="en-US" sz="2400" dirty="0"/>
              <a:t>Works on “blocks” of letters</a:t>
            </a:r>
          </a:p>
          <a:p>
            <a:pPr lvl="3" eaLnBrk="1" hangingPunct="1"/>
            <a:r>
              <a:rPr lang="en-US" altLang="en-US" sz="2400" dirty="0"/>
              <a:t>Uses variable length key (32–448 bits)</a:t>
            </a:r>
          </a:p>
          <a:p>
            <a:pPr lvl="3" eaLnBrk="1" hangingPunct="1"/>
            <a:r>
              <a:rPr lang="en-US" altLang="en-US" sz="2400" dirty="0"/>
              <a:t>Freeware</a:t>
            </a:r>
          </a:p>
          <a:p>
            <a:pPr lvl="4" eaLnBrk="1" hangingPunct="1"/>
            <a:endParaRPr lang="en-US" altLang="en-US" sz="2400" dirty="0"/>
          </a:p>
          <a:p>
            <a:pPr lvl="4" eaLnBrk="1" hangingPunct="1"/>
            <a:endParaRPr lang="en-US" altLang="en-US" dirty="0"/>
          </a:p>
        </p:txBody>
      </p:sp>
      <p:pic>
        <p:nvPicPr>
          <p:cNvPr id="1026" name="Picture 2">
            <a:extLst>
              <a:ext uri="{FF2B5EF4-FFF2-40B4-BE49-F238E27FC236}">
                <a16:creationId xmlns:a16="http://schemas.microsoft.com/office/drawing/2014/main" id="{C700D454-EF9A-CC2B-A79F-88A58208C9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55364" y="1078664"/>
            <a:ext cx="3453609" cy="564281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Rectangle 2">
            <a:extLst>
              <a:ext uri="{FF2B5EF4-FFF2-40B4-BE49-F238E27FC236}">
                <a16:creationId xmlns:a16="http://schemas.microsoft.com/office/drawing/2014/main" id="{FE37604F-7EB2-4A05-8FAF-A66FCC42A43A}"/>
              </a:ext>
            </a:extLst>
          </p:cNvPr>
          <p:cNvSpPr>
            <a:spLocks noGrp="1" noChangeArrowheads="1"/>
          </p:cNvSpPr>
          <p:nvPr>
            <p:ph type="title"/>
          </p:nvPr>
        </p:nvSpPr>
        <p:spPr>
          <a:xfrm>
            <a:off x="190500" y="-154782"/>
            <a:ext cx="10515600" cy="1325563"/>
          </a:xfrm>
        </p:spPr>
        <p:txBody>
          <a:bodyPr anchor="ctr">
            <a:normAutofit/>
          </a:bodyPr>
          <a:lstStyle/>
          <a:p>
            <a:pPr eaLnBrk="1" hangingPunct="1"/>
            <a:r>
              <a:rPr lang="en-US" altLang="en-US"/>
              <a:t>Modern Methods (cont.)</a:t>
            </a:r>
          </a:p>
        </p:txBody>
      </p:sp>
      <p:sp>
        <p:nvSpPr>
          <p:cNvPr id="36869" name="Rectangle 3">
            <a:extLst>
              <a:ext uri="{FF2B5EF4-FFF2-40B4-BE49-F238E27FC236}">
                <a16:creationId xmlns:a16="http://schemas.microsoft.com/office/drawing/2014/main" id="{6F8B0F9A-2EC3-4CC1-AAB3-5165A0187A4E}"/>
              </a:ext>
            </a:extLst>
          </p:cNvPr>
          <p:cNvSpPr>
            <a:spLocks noGrp="1" noChangeArrowheads="1"/>
          </p:cNvSpPr>
          <p:nvPr>
            <p:ph sz="half" idx="1"/>
          </p:nvPr>
        </p:nvSpPr>
        <p:spPr>
          <a:xfrm>
            <a:off x="-220579" y="1277978"/>
            <a:ext cx="5181600" cy="4826795"/>
          </a:xfrm>
        </p:spPr>
        <p:txBody>
          <a:bodyPr>
            <a:normAutofit/>
          </a:bodyPr>
          <a:lstStyle/>
          <a:p>
            <a:pPr marL="671513" lvl="2" indent="0">
              <a:buNone/>
            </a:pPr>
            <a:r>
              <a:rPr lang="en-US" altLang="en-US" sz="2800" dirty="0"/>
              <a:t>Data Encryption Standard (DES)</a:t>
            </a:r>
          </a:p>
          <a:p>
            <a:pPr marL="1404938" lvl="3" indent="-381000">
              <a:buFont typeface="Wingdings" panose="05000000000000000000" pitchFamily="2" charset="2"/>
              <a:buAutoNum type="arabicPeriod"/>
            </a:pPr>
            <a:r>
              <a:rPr lang="en-US" altLang="en-US" sz="2800" dirty="0"/>
              <a:t>Divided into 64-bit blocks; then transposed</a:t>
            </a:r>
          </a:p>
          <a:p>
            <a:pPr marL="1404938" lvl="3" indent="-381000">
              <a:buNone/>
            </a:pPr>
            <a:r>
              <a:rPr lang="en-US" altLang="en-US" sz="2800" dirty="0"/>
              <a:t>2. Manipulated by 16 steps of encryption, using 56-bit key</a:t>
            </a:r>
          </a:p>
          <a:p>
            <a:pPr marL="1404938" lvl="3" indent="-381000">
              <a:buNone/>
            </a:pPr>
            <a:r>
              <a:rPr lang="en-US" altLang="en-US" sz="2800" dirty="0"/>
              <a:t>3. Scrambled by a swapping algorithm</a:t>
            </a:r>
          </a:p>
          <a:p>
            <a:pPr marL="1404938" lvl="3" indent="-381000">
              <a:buNone/>
            </a:pPr>
            <a:r>
              <a:rPr lang="en-US" altLang="en-US" sz="2800" dirty="0"/>
              <a:t>4. Transposed one final time</a:t>
            </a:r>
          </a:p>
          <a:p>
            <a:pPr marL="1404938" lvl="3" indent="-381000"/>
            <a:endParaRPr lang="en-US" altLang="en-US" sz="2800" dirty="0"/>
          </a:p>
        </p:txBody>
      </p:sp>
      <p:pic>
        <p:nvPicPr>
          <p:cNvPr id="2050" name="Picture 2" descr="Steps in DES">
            <a:extLst>
              <a:ext uri="{FF2B5EF4-FFF2-40B4-BE49-F238E27FC236}">
                <a16:creationId xmlns:a16="http://schemas.microsoft.com/office/drawing/2014/main" id="{90CC75F6-CDE5-AE2A-F991-F0ECA6868EF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861397" y="1509406"/>
            <a:ext cx="7330603" cy="4508319"/>
          </a:xfrm>
          <a:prstGeom prst="rect">
            <a:avLst/>
          </a:prstGeom>
          <a:solidFill>
            <a:srgbClr val="FFFFFF"/>
          </a:solidFill>
          <a:extLst>
            <a:ext uri="{909E8E84-426E-40DD-AFC4-6F175D3DCCD1}">
              <a14:hiddenFill xmlns:a14="http://schemas.microsoft.com/office/drawing/2010/main">
                <a:solidFill>
                  <a:srgbClr val="FFFFFF"/>
                </a:solidFill>
              </a14:hiddenFill>
            </a:ext>
          </a:extLst>
        </p:spPr>
      </p:pic>
      <p:sp>
        <p:nvSpPr>
          <p:cNvPr id="36867" name="Slide Number Placeholder 4">
            <a:extLst>
              <a:ext uri="{FF2B5EF4-FFF2-40B4-BE49-F238E27FC236}">
                <a16:creationId xmlns:a16="http://schemas.microsoft.com/office/drawing/2014/main" id="{7B72748E-36E3-4ABD-8DCD-036557AF81B4}"/>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ormAutofit/>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spcAft>
                <a:spcPts val="600"/>
              </a:spcAft>
              <a:buClrTx/>
              <a:buSzTx/>
              <a:buFontTx/>
              <a:buNone/>
            </a:pPr>
            <a:fld id="{6621648C-3252-402C-9EFE-4CC58DB4BC96}" type="slidenum">
              <a:rPr lang="en-US" altLang="en-US" sz="1200">
                <a:solidFill>
                  <a:schemeClr val="tx1">
                    <a:tint val="75000"/>
                  </a:schemeClr>
                </a:solidFill>
              </a:rPr>
              <a:pPr>
                <a:spcBef>
                  <a:spcPct val="0"/>
                </a:spcBef>
                <a:spcAft>
                  <a:spcPts val="600"/>
                </a:spcAft>
                <a:buClrTx/>
                <a:buSzTx/>
                <a:buFontTx/>
                <a:buNone/>
              </a:pPr>
              <a:t>15</a:t>
            </a:fld>
            <a:endParaRPr lang="en-US" altLang="en-US" sz="1200">
              <a:solidFill>
                <a:schemeClr val="tx1">
                  <a:tint val="75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Rectangle 2">
            <a:extLst>
              <a:ext uri="{FF2B5EF4-FFF2-40B4-BE49-F238E27FC236}">
                <a16:creationId xmlns:a16="http://schemas.microsoft.com/office/drawing/2014/main" id="{15F30F5F-90FB-4FA8-AE8E-52D70FC17497}"/>
              </a:ext>
            </a:extLst>
          </p:cNvPr>
          <p:cNvSpPr>
            <a:spLocks noGrp="1" noChangeArrowheads="1"/>
          </p:cNvSpPr>
          <p:nvPr>
            <p:ph type="title"/>
          </p:nvPr>
        </p:nvSpPr>
        <p:spPr>
          <a:xfrm>
            <a:off x="190500" y="-154782"/>
            <a:ext cx="10515600" cy="1325563"/>
          </a:xfrm>
        </p:spPr>
        <p:txBody>
          <a:bodyPr anchor="ctr">
            <a:normAutofit/>
          </a:bodyPr>
          <a:lstStyle/>
          <a:p>
            <a:pPr eaLnBrk="1" hangingPunct="1"/>
            <a:r>
              <a:rPr lang="en-US" altLang="en-US"/>
              <a:t>Modern Methods (cont.)</a:t>
            </a:r>
          </a:p>
        </p:txBody>
      </p:sp>
      <p:sp>
        <p:nvSpPr>
          <p:cNvPr id="38917" name="Rectangle 3">
            <a:extLst>
              <a:ext uri="{FF2B5EF4-FFF2-40B4-BE49-F238E27FC236}">
                <a16:creationId xmlns:a16="http://schemas.microsoft.com/office/drawing/2014/main" id="{88F9EEB1-E5FF-443B-8010-DB798FD649CC}"/>
              </a:ext>
            </a:extLst>
          </p:cNvPr>
          <p:cNvSpPr>
            <a:spLocks noGrp="1" noChangeArrowheads="1"/>
          </p:cNvSpPr>
          <p:nvPr>
            <p:ph sz="half" idx="1"/>
          </p:nvPr>
        </p:nvSpPr>
        <p:spPr>
          <a:xfrm>
            <a:off x="190500" y="1350168"/>
            <a:ext cx="5829300" cy="4826795"/>
          </a:xfrm>
        </p:spPr>
        <p:txBody>
          <a:bodyPr>
            <a:normAutofit/>
          </a:bodyPr>
          <a:lstStyle/>
          <a:p>
            <a:pPr marL="176213" indent="-419100"/>
            <a:r>
              <a:rPr lang="en-US" altLang="en-US" sz="2600" dirty="0"/>
              <a:t>Advanced Encryption Standard (AES).</a:t>
            </a:r>
          </a:p>
          <a:p>
            <a:pPr marL="1090613" lvl="2" indent="-419100"/>
            <a:r>
              <a:rPr lang="en-US" altLang="en-US" sz="2600" dirty="0"/>
              <a:t>Advanced Encryption Standard was the algorithm eventually chosen to replace DES. It is a block cipher that works on 128-bit blocks. It can have one of three key sizes of 128, 192, or 256 bits. This was selected by the United States government to be the replacement for DES and is now the most widely used symmetric key algorithm. </a:t>
            </a:r>
          </a:p>
          <a:p>
            <a:pPr marL="1404938" lvl="3" indent="-381000"/>
            <a:endParaRPr lang="en-US" altLang="en-US" sz="2600" dirty="0"/>
          </a:p>
        </p:txBody>
      </p:sp>
      <p:pic>
        <p:nvPicPr>
          <p:cNvPr id="3074" name="Picture 2" descr="Creation of Round Keys (AES)">
            <a:extLst>
              <a:ext uri="{FF2B5EF4-FFF2-40B4-BE49-F238E27FC236}">
                <a16:creationId xmlns:a16="http://schemas.microsoft.com/office/drawing/2014/main" id="{E871AF93-072E-36C7-B14F-126F93A48424}"/>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172200" y="1943528"/>
            <a:ext cx="5181600" cy="3640074"/>
          </a:xfrm>
          <a:prstGeom prst="rect">
            <a:avLst/>
          </a:prstGeom>
          <a:solidFill>
            <a:srgbClr val="FFFFFF"/>
          </a:solidFill>
          <a:extLst>
            <a:ext uri="{909E8E84-426E-40DD-AFC4-6F175D3DCCD1}">
              <a14:hiddenFill xmlns:a14="http://schemas.microsoft.com/office/drawing/2010/main">
                <a:solidFill>
                  <a:srgbClr val="FFFFFF"/>
                </a:solidFill>
              </a14:hiddenFill>
            </a:ext>
          </a:extLst>
        </p:spPr>
      </p:pic>
      <p:sp>
        <p:nvSpPr>
          <p:cNvPr id="38915" name="Slide Number Placeholder 4">
            <a:extLst>
              <a:ext uri="{FF2B5EF4-FFF2-40B4-BE49-F238E27FC236}">
                <a16:creationId xmlns:a16="http://schemas.microsoft.com/office/drawing/2014/main" id="{01F8B359-5FE3-4A65-92E2-121C126E23BD}"/>
              </a:ext>
            </a:extLst>
          </p:cNvPr>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ormAutofit/>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spcAft>
                <a:spcPts val="600"/>
              </a:spcAft>
              <a:buClrTx/>
              <a:buSzTx/>
              <a:buFontTx/>
              <a:buNone/>
            </a:pPr>
            <a:fld id="{0EDB4413-A420-4E9D-93A2-EBD897136927}" type="slidenum">
              <a:rPr lang="en-US" altLang="en-US" sz="1200">
                <a:solidFill>
                  <a:schemeClr val="tx1">
                    <a:tint val="75000"/>
                  </a:schemeClr>
                </a:solidFill>
              </a:rPr>
              <a:pPr>
                <a:spcBef>
                  <a:spcPct val="0"/>
                </a:spcBef>
                <a:spcAft>
                  <a:spcPts val="600"/>
                </a:spcAft>
                <a:buClrTx/>
                <a:buSzTx/>
                <a:buFontTx/>
                <a:buNone/>
              </a:pPr>
              <a:t>16</a:t>
            </a:fld>
            <a:endParaRPr lang="en-US" altLang="en-US" sz="1200">
              <a:solidFill>
                <a:schemeClr val="tx1">
                  <a:tint val="75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Slide Number Placeholder 4">
            <a:extLst>
              <a:ext uri="{FF2B5EF4-FFF2-40B4-BE49-F238E27FC236}">
                <a16:creationId xmlns:a16="http://schemas.microsoft.com/office/drawing/2014/main" id="{F18D7904-C374-4893-9A50-B4E17B99FF1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F3B468D2-E567-400F-90F0-9EE56CBDC377}" type="slidenum">
              <a:rPr lang="en-US" altLang="en-US" sz="1200">
                <a:latin typeface="Garamond" panose="02020404030301010803" pitchFamily="18" charset="0"/>
              </a:rPr>
              <a:pPr>
                <a:spcBef>
                  <a:spcPct val="0"/>
                </a:spcBef>
                <a:buClrTx/>
                <a:buSzTx/>
                <a:buFontTx/>
                <a:buNone/>
              </a:pPr>
              <a:t>17</a:t>
            </a:fld>
            <a:endParaRPr lang="en-US" altLang="en-US" sz="1200">
              <a:latin typeface="Garamond" panose="02020404030301010803" pitchFamily="18" charset="0"/>
            </a:endParaRPr>
          </a:p>
        </p:txBody>
      </p:sp>
      <p:sp>
        <p:nvSpPr>
          <p:cNvPr id="40964" name="Rectangle 2">
            <a:extLst>
              <a:ext uri="{FF2B5EF4-FFF2-40B4-BE49-F238E27FC236}">
                <a16:creationId xmlns:a16="http://schemas.microsoft.com/office/drawing/2014/main" id="{FE17488E-85EE-4B00-A9F0-BF2FDFF878EB}"/>
              </a:ext>
            </a:extLst>
          </p:cNvPr>
          <p:cNvSpPr>
            <a:spLocks noGrp="1" noChangeArrowheads="1"/>
          </p:cNvSpPr>
          <p:nvPr>
            <p:ph type="title"/>
          </p:nvPr>
        </p:nvSpPr>
        <p:spPr/>
        <p:txBody>
          <a:bodyPr/>
          <a:lstStyle/>
          <a:p>
            <a:pPr eaLnBrk="1" hangingPunct="1"/>
            <a:r>
              <a:rPr lang="en-US" altLang="en-US"/>
              <a:t>Modern Methods (cont.)</a:t>
            </a:r>
          </a:p>
        </p:txBody>
      </p:sp>
      <p:sp>
        <p:nvSpPr>
          <p:cNvPr id="40965" name="Rectangle 3">
            <a:extLst>
              <a:ext uri="{FF2B5EF4-FFF2-40B4-BE49-F238E27FC236}">
                <a16:creationId xmlns:a16="http://schemas.microsoft.com/office/drawing/2014/main" id="{469125D1-FD4B-464F-B0A6-62B5A36915C3}"/>
              </a:ext>
            </a:extLst>
          </p:cNvPr>
          <p:cNvSpPr>
            <a:spLocks noGrp="1" noChangeArrowheads="1"/>
          </p:cNvSpPr>
          <p:nvPr>
            <p:ph type="body" idx="1"/>
          </p:nvPr>
        </p:nvSpPr>
        <p:spPr/>
        <p:txBody>
          <a:bodyPr/>
          <a:lstStyle/>
          <a:p>
            <a:pPr eaLnBrk="1" hangingPunct="1"/>
            <a:r>
              <a:rPr lang="en-US" altLang="en-US" sz="3600" dirty="0"/>
              <a:t>One major problem with symmetric key encryption</a:t>
            </a:r>
          </a:p>
          <a:p>
            <a:pPr lvl="1" eaLnBrk="1" hangingPunct="1">
              <a:buFont typeface="Wingdings" panose="05000000000000000000" pitchFamily="2" charset="2"/>
              <a:buNone/>
            </a:pPr>
            <a:endParaRPr lang="en-US" altLang="en-US" sz="3600" dirty="0"/>
          </a:p>
          <a:p>
            <a:pPr lvl="1" eaLnBrk="1" hangingPunct="1">
              <a:buFont typeface="Wingdings" panose="05000000000000000000" pitchFamily="2" charset="2"/>
              <a:buNone/>
            </a:pPr>
            <a:r>
              <a:rPr lang="en-US" altLang="en-US" sz="3600" dirty="0"/>
              <a:t>How do you transmit the symmetric key?</a:t>
            </a:r>
          </a:p>
          <a:p>
            <a:pPr eaLnBrk="1" hangingPunct="1"/>
            <a:endParaRPr lang="en-US" altLang="en-US" sz="3600" dirty="0"/>
          </a:p>
          <a:p>
            <a:pPr eaLnBrk="1" hangingPunct="1"/>
            <a:r>
              <a:rPr lang="en-US" altLang="en-US" sz="3600" dirty="0"/>
              <a:t>The answer: public key encryption</a:t>
            </a:r>
          </a:p>
          <a:p>
            <a:pPr lvl="1" eaLnBrk="1" hangingPunct="1"/>
            <a:endParaRPr lang="en-US" altLang="en-US" sz="3000" dirty="0"/>
          </a:p>
        </p:txBody>
      </p:sp>
      <p:pic>
        <p:nvPicPr>
          <p:cNvPr id="4098" name="Picture 2" descr="Public-Key Encryption (Sun Directory Server Enterprise Edition 7.0  Reference)">
            <a:extLst>
              <a:ext uri="{FF2B5EF4-FFF2-40B4-BE49-F238E27FC236}">
                <a16:creationId xmlns:a16="http://schemas.microsoft.com/office/drawing/2014/main" id="{0E77FCD7-057A-4B30-9D39-1428A99158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7745" y="4534294"/>
            <a:ext cx="5389316" cy="208366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Slide Number Placeholder 4">
            <a:extLst>
              <a:ext uri="{FF2B5EF4-FFF2-40B4-BE49-F238E27FC236}">
                <a16:creationId xmlns:a16="http://schemas.microsoft.com/office/drawing/2014/main" id="{EB64C94C-767A-44EB-B533-49B4680B9DCF}"/>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795739D5-3577-463F-88C1-54A3008289F1}" type="slidenum">
              <a:rPr lang="en-US" altLang="en-US" sz="1200">
                <a:latin typeface="Garamond" panose="02020404030301010803" pitchFamily="18" charset="0"/>
              </a:rPr>
              <a:pPr>
                <a:spcBef>
                  <a:spcPct val="0"/>
                </a:spcBef>
                <a:buClrTx/>
                <a:buSzTx/>
                <a:buFontTx/>
                <a:buNone/>
              </a:pPr>
              <a:t>18</a:t>
            </a:fld>
            <a:endParaRPr lang="en-US" altLang="en-US" sz="1200">
              <a:latin typeface="Garamond" panose="02020404030301010803" pitchFamily="18" charset="0"/>
            </a:endParaRPr>
          </a:p>
        </p:txBody>
      </p:sp>
      <p:sp>
        <p:nvSpPr>
          <p:cNvPr id="43012" name="Rectangle 2">
            <a:extLst>
              <a:ext uri="{FF2B5EF4-FFF2-40B4-BE49-F238E27FC236}">
                <a16:creationId xmlns:a16="http://schemas.microsoft.com/office/drawing/2014/main" id="{50F7B5A6-CCB5-4733-8E38-ACD69CEDFD42}"/>
              </a:ext>
            </a:extLst>
          </p:cNvPr>
          <p:cNvSpPr>
            <a:spLocks noGrp="1" noChangeArrowheads="1"/>
          </p:cNvSpPr>
          <p:nvPr>
            <p:ph type="title"/>
          </p:nvPr>
        </p:nvSpPr>
        <p:spPr/>
        <p:txBody>
          <a:bodyPr/>
          <a:lstStyle/>
          <a:p>
            <a:pPr eaLnBrk="1" hangingPunct="1"/>
            <a:r>
              <a:rPr lang="en-US" altLang="en-US"/>
              <a:t>Modern Methods (cont.)</a:t>
            </a:r>
          </a:p>
        </p:txBody>
      </p:sp>
      <p:sp>
        <p:nvSpPr>
          <p:cNvPr id="43013" name="Rectangle 3">
            <a:extLst>
              <a:ext uri="{FF2B5EF4-FFF2-40B4-BE49-F238E27FC236}">
                <a16:creationId xmlns:a16="http://schemas.microsoft.com/office/drawing/2014/main" id="{199AAC07-97A4-40C7-A569-33043496A30A}"/>
              </a:ext>
            </a:extLst>
          </p:cNvPr>
          <p:cNvSpPr>
            <a:spLocks noGrp="1" noChangeArrowheads="1"/>
          </p:cNvSpPr>
          <p:nvPr>
            <p:ph type="body" idx="1"/>
          </p:nvPr>
        </p:nvSpPr>
        <p:spPr/>
        <p:txBody>
          <a:bodyPr/>
          <a:lstStyle/>
          <a:p>
            <a:pPr eaLnBrk="1" hangingPunct="1"/>
            <a:r>
              <a:rPr lang="en-US" altLang="en-US" sz="3600" dirty="0"/>
              <a:t>Public key (asymmetric) encryption</a:t>
            </a:r>
          </a:p>
          <a:p>
            <a:pPr lvl="1" eaLnBrk="1" hangingPunct="1"/>
            <a:r>
              <a:rPr lang="en-US" altLang="en-US" sz="3600" dirty="0"/>
              <a:t>Opposite of single key encryption.</a:t>
            </a:r>
          </a:p>
          <a:p>
            <a:pPr lvl="1" eaLnBrk="1" hangingPunct="1"/>
            <a:r>
              <a:rPr lang="en-US" altLang="en-US" sz="3600" dirty="0"/>
              <a:t>One key (public key) used to encrypt .</a:t>
            </a:r>
          </a:p>
          <a:p>
            <a:pPr lvl="1" eaLnBrk="1" hangingPunct="1"/>
            <a:r>
              <a:rPr lang="en-US" altLang="en-US" sz="3600" dirty="0"/>
              <a:t>One key (private key) used to decrypt.</a:t>
            </a:r>
          </a:p>
          <a:p>
            <a:pPr lvl="1" eaLnBrk="1" hangingPunct="1"/>
            <a:r>
              <a:rPr lang="en-US" altLang="en-US" sz="3600" dirty="0"/>
              <a:t>Only holder of a private key can decrypt messages.</a:t>
            </a:r>
          </a:p>
          <a:p>
            <a:pPr lvl="1" eaLnBrk="1" hangingPunct="1"/>
            <a:endParaRPr lang="en-US" altLang="en-US" sz="2800" dirty="0"/>
          </a:p>
          <a:p>
            <a:pPr lvl="1" eaLnBrk="1" hangingPunct="1"/>
            <a:endParaRPr lang="en-US" alt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Slide Number Placeholder 4">
            <a:extLst>
              <a:ext uri="{FF2B5EF4-FFF2-40B4-BE49-F238E27FC236}">
                <a16:creationId xmlns:a16="http://schemas.microsoft.com/office/drawing/2014/main" id="{4DE045FC-308E-4755-9197-D329C1FFEC2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9E2FED30-0333-4CD3-A53E-BC96805CB598}" type="slidenum">
              <a:rPr lang="en-US" altLang="en-US" sz="1200">
                <a:latin typeface="Garamond" panose="02020404030301010803" pitchFamily="18" charset="0"/>
              </a:rPr>
              <a:pPr>
                <a:spcBef>
                  <a:spcPct val="0"/>
                </a:spcBef>
                <a:buClrTx/>
                <a:buSzTx/>
                <a:buFontTx/>
                <a:buNone/>
              </a:pPr>
              <a:t>19</a:t>
            </a:fld>
            <a:endParaRPr lang="en-US" altLang="en-US" sz="1200">
              <a:latin typeface="Garamond" panose="02020404030301010803" pitchFamily="18" charset="0"/>
            </a:endParaRPr>
          </a:p>
        </p:txBody>
      </p:sp>
      <p:sp>
        <p:nvSpPr>
          <p:cNvPr id="45060" name="Rectangle 2">
            <a:extLst>
              <a:ext uri="{FF2B5EF4-FFF2-40B4-BE49-F238E27FC236}">
                <a16:creationId xmlns:a16="http://schemas.microsoft.com/office/drawing/2014/main" id="{425AD777-F616-4969-AEFB-6ED682011132}"/>
              </a:ext>
            </a:extLst>
          </p:cNvPr>
          <p:cNvSpPr>
            <a:spLocks noGrp="1" noChangeArrowheads="1"/>
          </p:cNvSpPr>
          <p:nvPr>
            <p:ph type="title"/>
          </p:nvPr>
        </p:nvSpPr>
        <p:spPr/>
        <p:txBody>
          <a:bodyPr/>
          <a:lstStyle/>
          <a:p>
            <a:pPr eaLnBrk="1" hangingPunct="1"/>
            <a:r>
              <a:rPr lang="en-US" altLang="en-US"/>
              <a:t>Modern Methods (cont.)</a:t>
            </a:r>
          </a:p>
        </p:txBody>
      </p:sp>
      <p:sp>
        <p:nvSpPr>
          <p:cNvPr id="45061" name="Rectangle 3">
            <a:extLst>
              <a:ext uri="{FF2B5EF4-FFF2-40B4-BE49-F238E27FC236}">
                <a16:creationId xmlns:a16="http://schemas.microsoft.com/office/drawing/2014/main" id="{F148423C-B0DB-4782-A0B2-D1CE26175DE9}"/>
              </a:ext>
            </a:extLst>
          </p:cNvPr>
          <p:cNvSpPr>
            <a:spLocks noGrp="1" noChangeArrowheads="1"/>
          </p:cNvSpPr>
          <p:nvPr>
            <p:ph type="body" idx="1"/>
          </p:nvPr>
        </p:nvSpPr>
        <p:spPr>
          <a:xfrm>
            <a:off x="699155" y="1467439"/>
            <a:ext cx="8229600" cy="4800600"/>
          </a:xfrm>
        </p:spPr>
        <p:txBody>
          <a:bodyPr/>
          <a:lstStyle/>
          <a:p>
            <a:pPr eaLnBrk="1" hangingPunct="1">
              <a:lnSpc>
                <a:spcPct val="95000"/>
              </a:lnSpc>
            </a:pPr>
            <a:r>
              <a:rPr lang="en-US" altLang="en-US" dirty="0"/>
              <a:t>Public key (asymmetric) encryption	</a:t>
            </a:r>
          </a:p>
          <a:p>
            <a:pPr lvl="1" eaLnBrk="1" hangingPunct="1">
              <a:lnSpc>
                <a:spcPct val="95000"/>
              </a:lnSpc>
            </a:pPr>
            <a:r>
              <a:rPr lang="en-US" altLang="en-US" sz="2800" dirty="0"/>
              <a:t>Depends on large prime numbers, factoring, and number theory.</a:t>
            </a:r>
          </a:p>
          <a:p>
            <a:pPr lvl="1" eaLnBrk="1" hangingPunct="1">
              <a:lnSpc>
                <a:spcPct val="95000"/>
              </a:lnSpc>
            </a:pPr>
            <a:r>
              <a:rPr lang="en-US" altLang="en-US" sz="2800" dirty="0"/>
              <a:t>Public key encryption is most widely used. </a:t>
            </a:r>
          </a:p>
          <a:p>
            <a:pPr lvl="1" eaLnBrk="1" hangingPunct="1"/>
            <a:r>
              <a:rPr lang="en-US" altLang="en-US" sz="2800" dirty="0"/>
              <a:t>Pretty Good Privacy (PGP):</a:t>
            </a:r>
          </a:p>
          <a:p>
            <a:pPr lvl="2" eaLnBrk="1" hangingPunct="1"/>
            <a:r>
              <a:rPr lang="en-US" altLang="en-US" sz="2600" dirty="0"/>
              <a:t>Freeware</a:t>
            </a:r>
          </a:p>
          <a:p>
            <a:pPr lvl="2" eaLnBrk="1" hangingPunct="1"/>
            <a:r>
              <a:rPr lang="en-US" altLang="en-US" sz="2600" dirty="0"/>
              <a:t>Quite secure</a:t>
            </a:r>
          </a:p>
          <a:p>
            <a:pPr lvl="1" eaLnBrk="1" hangingPunct="1">
              <a:lnSpc>
                <a:spcPct val="95000"/>
              </a:lnSpc>
              <a:buFont typeface="Wingdings" panose="05000000000000000000" pitchFamily="2" charset="2"/>
              <a:buNone/>
            </a:pPr>
            <a:endParaRPr lang="en-US" altLang="en-US" sz="2800" dirty="0"/>
          </a:p>
        </p:txBody>
      </p:sp>
      <p:pic>
        <p:nvPicPr>
          <p:cNvPr id="2" name="Picture 1">
            <a:extLst>
              <a:ext uri="{FF2B5EF4-FFF2-40B4-BE49-F238E27FC236}">
                <a16:creationId xmlns:a16="http://schemas.microsoft.com/office/drawing/2014/main" id="{47BACC98-45C8-4203-8E14-08F33DDA751A}"/>
              </a:ext>
            </a:extLst>
          </p:cNvPr>
          <p:cNvPicPr>
            <a:picLocks noChangeAspect="1"/>
          </p:cNvPicPr>
          <p:nvPr/>
        </p:nvPicPr>
        <p:blipFill>
          <a:blip r:embed="rId3"/>
          <a:stretch>
            <a:fillRect/>
          </a:stretch>
        </p:blipFill>
        <p:spPr>
          <a:xfrm>
            <a:off x="7225394" y="2530369"/>
            <a:ext cx="4436986" cy="403432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Slide Number Placeholder 4">
            <a:extLst>
              <a:ext uri="{FF2B5EF4-FFF2-40B4-BE49-F238E27FC236}">
                <a16:creationId xmlns:a16="http://schemas.microsoft.com/office/drawing/2014/main" id="{1DD90F95-707B-495E-A4E8-F02076A091AC}"/>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D09F856C-A3CA-438D-963F-D2006E486C05}" type="slidenum">
              <a:rPr lang="en-US" altLang="en-US" sz="1200">
                <a:latin typeface="Garamond" panose="02020404030301010803" pitchFamily="18" charset="0"/>
              </a:rPr>
              <a:pPr>
                <a:spcBef>
                  <a:spcPct val="0"/>
                </a:spcBef>
                <a:buClrTx/>
                <a:buSzTx/>
                <a:buFontTx/>
                <a:buNone/>
              </a:pPr>
              <a:t>20</a:t>
            </a:fld>
            <a:endParaRPr lang="en-US" altLang="en-US" sz="1200">
              <a:latin typeface="Garamond" panose="02020404030301010803" pitchFamily="18" charset="0"/>
            </a:endParaRPr>
          </a:p>
        </p:txBody>
      </p:sp>
      <p:sp>
        <p:nvSpPr>
          <p:cNvPr id="49156" name="Rectangle 2">
            <a:extLst>
              <a:ext uri="{FF2B5EF4-FFF2-40B4-BE49-F238E27FC236}">
                <a16:creationId xmlns:a16="http://schemas.microsoft.com/office/drawing/2014/main" id="{C9D87DAE-CFD1-4AF8-AADA-37A4803E97B2}"/>
              </a:ext>
            </a:extLst>
          </p:cNvPr>
          <p:cNvSpPr>
            <a:spLocks noGrp="1" noChangeArrowheads="1"/>
          </p:cNvSpPr>
          <p:nvPr>
            <p:ph type="title"/>
          </p:nvPr>
        </p:nvSpPr>
        <p:spPr/>
        <p:txBody>
          <a:bodyPr/>
          <a:lstStyle/>
          <a:p>
            <a:pPr eaLnBrk="1" hangingPunct="1"/>
            <a:r>
              <a:rPr lang="en-US" altLang="en-US"/>
              <a:t>Modern Methods (cont.)</a:t>
            </a:r>
          </a:p>
        </p:txBody>
      </p:sp>
      <p:sp>
        <p:nvSpPr>
          <p:cNvPr id="49157" name="Rectangle 4">
            <a:extLst>
              <a:ext uri="{FF2B5EF4-FFF2-40B4-BE49-F238E27FC236}">
                <a16:creationId xmlns:a16="http://schemas.microsoft.com/office/drawing/2014/main" id="{844BB356-EAE8-43A2-83D8-431701DDE4EC}"/>
              </a:ext>
            </a:extLst>
          </p:cNvPr>
          <p:cNvSpPr>
            <a:spLocks noChangeArrowheads="1"/>
          </p:cNvSpPr>
          <p:nvPr/>
        </p:nvSpPr>
        <p:spPr bwMode="auto">
          <a:xfrm>
            <a:off x="2590800" y="5562601"/>
            <a:ext cx="678180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miter lim="800000"/>
                <a:headEnd/>
                <a:tailEnd/>
              </a14:hiddenLine>
            </a:ext>
          </a:extLst>
        </p:spPr>
        <p:txBody>
          <a:bodyPr lIns="0" tIns="0" rIns="0" bIns="0">
            <a:spAutoFit/>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lgn="ctr" eaLnBrk="1" hangingPunct="1">
              <a:spcBef>
                <a:spcPct val="30000"/>
              </a:spcBef>
              <a:buClrTx/>
              <a:buSzTx/>
              <a:buFontTx/>
              <a:buNone/>
            </a:pPr>
            <a:r>
              <a:rPr lang="en-US" altLang="en-US" sz="1800"/>
              <a:t>The MIT Distribution Center for PGP home page (</a:t>
            </a:r>
            <a:r>
              <a:rPr lang="en-US" altLang="en-US" sz="1800">
                <a:hlinkClick r:id="rId3"/>
              </a:rPr>
              <a:t>http://web.mit.edu/network/pgp.html</a:t>
            </a:r>
            <a:r>
              <a:rPr lang="en-US" altLang="en-US" sz="1800"/>
              <a:t>)</a:t>
            </a:r>
            <a:r>
              <a:rPr lang="en-US" altLang="en-US" sz="1800">
                <a:solidFill>
                  <a:schemeClr val="tx1"/>
                </a:solidFill>
              </a:rPr>
              <a:t> </a:t>
            </a:r>
          </a:p>
        </p:txBody>
      </p:sp>
      <p:pic>
        <p:nvPicPr>
          <p:cNvPr id="49158" name="Picture 6" descr="PGPChapt7 PHNJ12Supps">
            <a:extLst>
              <a:ext uri="{FF2B5EF4-FFF2-40B4-BE49-F238E27FC236}">
                <a16:creationId xmlns:a16="http://schemas.microsoft.com/office/drawing/2014/main" id="{37A13365-CF2A-408E-9E61-0D8D015187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67001" y="1066801"/>
            <a:ext cx="6691313" cy="433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1086C-22C8-FE8D-76CE-41255D4CAC6D}"/>
            </a:ext>
          </a:extLst>
        </p:cNvPr>
        <p:cNvGrpSpPr/>
        <p:nvPr/>
      </p:nvGrpSpPr>
      <p:grpSpPr>
        <a:xfrm>
          <a:off x="0" y="0"/>
          <a:ext cx="0" cy="0"/>
          <a:chOff x="0" y="0"/>
          <a:chExt cx="0" cy="0"/>
        </a:xfrm>
      </p:grpSpPr>
      <p:sp>
        <p:nvSpPr>
          <p:cNvPr id="51203" name="Slide Number Placeholder 4">
            <a:extLst>
              <a:ext uri="{FF2B5EF4-FFF2-40B4-BE49-F238E27FC236}">
                <a16:creationId xmlns:a16="http://schemas.microsoft.com/office/drawing/2014/main" id="{D3C906FB-7CA5-E46B-21C0-823B102DC8BB}"/>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21D8E252-B9E0-489E-85F4-17AC201D2D3B}" type="slidenum">
              <a:rPr lang="en-US" altLang="en-US" sz="1200">
                <a:latin typeface="Garamond" panose="02020404030301010803" pitchFamily="18" charset="0"/>
              </a:rPr>
              <a:pPr>
                <a:spcBef>
                  <a:spcPct val="0"/>
                </a:spcBef>
                <a:buClrTx/>
                <a:buSzTx/>
                <a:buFontTx/>
                <a:buNone/>
              </a:pPr>
              <a:t>21</a:t>
            </a:fld>
            <a:endParaRPr lang="en-US" altLang="en-US" sz="1200">
              <a:latin typeface="Garamond" panose="02020404030301010803" pitchFamily="18" charset="0"/>
            </a:endParaRPr>
          </a:p>
        </p:txBody>
      </p:sp>
      <p:sp>
        <p:nvSpPr>
          <p:cNvPr id="51204" name="Rectangle 2">
            <a:extLst>
              <a:ext uri="{FF2B5EF4-FFF2-40B4-BE49-F238E27FC236}">
                <a16:creationId xmlns:a16="http://schemas.microsoft.com/office/drawing/2014/main" id="{479657BE-1098-F637-3AAE-4D9C9937B232}"/>
              </a:ext>
            </a:extLst>
          </p:cNvPr>
          <p:cNvSpPr>
            <a:spLocks noGrp="1" noChangeArrowheads="1"/>
          </p:cNvSpPr>
          <p:nvPr>
            <p:ph type="title"/>
          </p:nvPr>
        </p:nvSpPr>
        <p:spPr/>
        <p:txBody>
          <a:bodyPr/>
          <a:lstStyle/>
          <a:p>
            <a:pPr eaLnBrk="1" hangingPunct="1"/>
            <a:r>
              <a:rPr lang="en-US" altLang="en-US"/>
              <a:t>Modern Methods (cont.)</a:t>
            </a:r>
          </a:p>
        </p:txBody>
      </p:sp>
      <p:pic>
        <p:nvPicPr>
          <p:cNvPr id="4098" name="Picture 2" descr="RSA working">
            <a:extLst>
              <a:ext uri="{FF2B5EF4-FFF2-40B4-BE49-F238E27FC236}">
                <a16:creationId xmlns:a16="http://schemas.microsoft.com/office/drawing/2014/main" id="{BFECC90E-9C1E-2C0D-CFD5-60C94A408C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247" y="1170781"/>
            <a:ext cx="12192000" cy="5864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36687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Slide Number Placeholder 4">
            <a:extLst>
              <a:ext uri="{FF2B5EF4-FFF2-40B4-BE49-F238E27FC236}">
                <a16:creationId xmlns:a16="http://schemas.microsoft.com/office/drawing/2014/main" id="{48B119AE-9F2B-4EFC-9EE7-184F063A10F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21D8E252-B9E0-489E-85F4-17AC201D2D3B}" type="slidenum">
              <a:rPr lang="en-US" altLang="en-US" sz="1200">
                <a:latin typeface="Garamond" panose="02020404030301010803" pitchFamily="18" charset="0"/>
              </a:rPr>
              <a:pPr>
                <a:spcBef>
                  <a:spcPct val="0"/>
                </a:spcBef>
                <a:buClrTx/>
                <a:buSzTx/>
                <a:buFontTx/>
                <a:buNone/>
              </a:pPr>
              <a:t>22</a:t>
            </a:fld>
            <a:endParaRPr lang="en-US" altLang="en-US" sz="1200">
              <a:latin typeface="Garamond" panose="02020404030301010803" pitchFamily="18" charset="0"/>
            </a:endParaRPr>
          </a:p>
        </p:txBody>
      </p:sp>
      <p:sp>
        <p:nvSpPr>
          <p:cNvPr id="51204" name="Rectangle 2">
            <a:extLst>
              <a:ext uri="{FF2B5EF4-FFF2-40B4-BE49-F238E27FC236}">
                <a16:creationId xmlns:a16="http://schemas.microsoft.com/office/drawing/2014/main" id="{2F83D807-7FDC-41C8-B507-93EE85990FE4}"/>
              </a:ext>
            </a:extLst>
          </p:cNvPr>
          <p:cNvSpPr>
            <a:spLocks noGrp="1" noChangeArrowheads="1"/>
          </p:cNvSpPr>
          <p:nvPr>
            <p:ph type="title"/>
          </p:nvPr>
        </p:nvSpPr>
        <p:spPr/>
        <p:txBody>
          <a:bodyPr/>
          <a:lstStyle/>
          <a:p>
            <a:pPr eaLnBrk="1" hangingPunct="1"/>
            <a:r>
              <a:rPr lang="en-US" altLang="en-US"/>
              <a:t>Modern Methods (cont.)</a:t>
            </a:r>
          </a:p>
        </p:txBody>
      </p:sp>
      <p:sp>
        <p:nvSpPr>
          <p:cNvPr id="51205" name="Rectangle 3">
            <a:extLst>
              <a:ext uri="{FF2B5EF4-FFF2-40B4-BE49-F238E27FC236}">
                <a16:creationId xmlns:a16="http://schemas.microsoft.com/office/drawing/2014/main" id="{D1D6DFB0-4DF0-4032-A4FA-B36B20A504F5}"/>
              </a:ext>
            </a:extLst>
          </p:cNvPr>
          <p:cNvSpPr>
            <a:spLocks noGrp="1" noChangeArrowheads="1"/>
          </p:cNvSpPr>
          <p:nvPr>
            <p:ph type="body" idx="1"/>
          </p:nvPr>
        </p:nvSpPr>
        <p:spPr/>
        <p:txBody>
          <a:bodyPr/>
          <a:lstStyle/>
          <a:p>
            <a:pPr eaLnBrk="1" hangingPunct="1"/>
            <a:r>
              <a:rPr lang="en-US" altLang="en-US"/>
              <a:t>Public key (asymmetric) encryption	</a:t>
            </a:r>
          </a:p>
          <a:p>
            <a:pPr lvl="1" eaLnBrk="1" hangingPunct="1"/>
            <a:r>
              <a:rPr lang="en-US" altLang="en-US" sz="2800"/>
              <a:t>RSA</a:t>
            </a:r>
            <a:endParaRPr lang="en-US" altLang="en-US" sz="3000"/>
          </a:p>
          <a:p>
            <a:pPr lvl="2" eaLnBrk="1" hangingPunct="1"/>
            <a:r>
              <a:rPr lang="en-US" altLang="en-US" sz="2400"/>
              <a:t>You start by generating two large random primes, p and q, of approximately equal size. Now you need to pick two numbers so that when multiplied together the product will be the size you want (that is, 128 bits, 256 bits, and so on). </a:t>
            </a:r>
          </a:p>
          <a:p>
            <a:pPr lvl="2" eaLnBrk="1" hangingPunct="1"/>
            <a:r>
              <a:rPr lang="en-US" altLang="en-US" sz="2400"/>
              <a:t>Now multiply p and q to get n.</a:t>
            </a:r>
          </a:p>
          <a:p>
            <a:pPr lvl="2" eaLnBrk="1" hangingPunct="1"/>
            <a:r>
              <a:rPr lang="en-US" altLang="en-US" sz="2400"/>
              <a:t>Let n = pq</a:t>
            </a:r>
          </a:p>
          <a:p>
            <a:pPr lvl="2" eaLnBrk="1" hangingPunct="1"/>
            <a:r>
              <a:rPr lang="en-US" altLang="en-US" sz="2400"/>
              <a:t>Let m = (p - 1)(q – 1)</a:t>
            </a:r>
          </a:p>
        </p:txBody>
      </p:sp>
      <p:graphicFrame>
        <p:nvGraphicFramePr>
          <p:cNvPr id="2" name="Table 1">
            <a:extLst>
              <a:ext uri="{FF2B5EF4-FFF2-40B4-BE49-F238E27FC236}">
                <a16:creationId xmlns:a16="http://schemas.microsoft.com/office/drawing/2014/main" id="{057EAF03-C160-5E35-E905-008021F99081}"/>
              </a:ext>
            </a:extLst>
          </p:cNvPr>
          <p:cNvGraphicFramePr>
            <a:graphicFrameLocks noGrp="1"/>
          </p:cNvGraphicFramePr>
          <p:nvPr>
            <p:extLst>
              <p:ext uri="{D42A27DB-BD31-4B8C-83A1-F6EECF244321}">
                <p14:modId xmlns:p14="http://schemas.microsoft.com/office/powerpoint/2010/main" val="497656399"/>
              </p:ext>
            </p:extLst>
          </p:nvPr>
        </p:nvGraphicFramePr>
        <p:xfrm>
          <a:off x="2032000" y="5291666"/>
          <a:ext cx="8128000" cy="7416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841462458"/>
                    </a:ext>
                  </a:extLst>
                </a:gridCol>
                <a:gridCol w="2032000">
                  <a:extLst>
                    <a:ext uri="{9D8B030D-6E8A-4147-A177-3AD203B41FA5}">
                      <a16:colId xmlns:a16="http://schemas.microsoft.com/office/drawing/2014/main" val="3768158030"/>
                    </a:ext>
                  </a:extLst>
                </a:gridCol>
                <a:gridCol w="2032000">
                  <a:extLst>
                    <a:ext uri="{9D8B030D-6E8A-4147-A177-3AD203B41FA5}">
                      <a16:colId xmlns:a16="http://schemas.microsoft.com/office/drawing/2014/main" val="4242801663"/>
                    </a:ext>
                  </a:extLst>
                </a:gridCol>
                <a:gridCol w="2032000">
                  <a:extLst>
                    <a:ext uri="{9D8B030D-6E8A-4147-A177-3AD203B41FA5}">
                      <a16:colId xmlns:a16="http://schemas.microsoft.com/office/drawing/2014/main" val="1179996540"/>
                    </a:ext>
                  </a:extLst>
                </a:gridCol>
              </a:tblGrid>
              <a:tr h="370840">
                <a:tc>
                  <a:txBody>
                    <a:bodyPr/>
                    <a:lstStyle/>
                    <a:p>
                      <a:r>
                        <a:rPr lang="en-US" dirty="0"/>
                        <a:t>p</a:t>
                      </a:r>
                    </a:p>
                  </a:txBody>
                  <a:tcPr/>
                </a:tc>
                <a:tc>
                  <a:txBody>
                    <a:bodyPr/>
                    <a:lstStyle/>
                    <a:p>
                      <a:r>
                        <a:rPr lang="en-US" dirty="0"/>
                        <a:t>q</a:t>
                      </a:r>
                    </a:p>
                  </a:txBody>
                  <a:tcPr/>
                </a:tc>
                <a:tc>
                  <a:txBody>
                    <a:bodyPr/>
                    <a:lstStyle/>
                    <a:p>
                      <a:r>
                        <a:rPr lang="en-US" dirty="0"/>
                        <a:t>n</a:t>
                      </a:r>
                    </a:p>
                  </a:txBody>
                  <a:tcPr/>
                </a:tc>
                <a:tc>
                  <a:txBody>
                    <a:bodyPr/>
                    <a:lstStyle/>
                    <a:p>
                      <a:r>
                        <a:rPr lang="en-US" dirty="0"/>
                        <a:t>m</a:t>
                      </a:r>
                    </a:p>
                  </a:txBody>
                  <a:tcPr/>
                </a:tc>
                <a:extLst>
                  <a:ext uri="{0D108BD9-81ED-4DB2-BD59-A6C34878D82A}">
                    <a16:rowId xmlns:a16="http://schemas.microsoft.com/office/drawing/2014/main" val="2212745307"/>
                  </a:ext>
                </a:extLst>
              </a:tr>
              <a:tr h="370840">
                <a:tc>
                  <a:txBody>
                    <a:bodyPr/>
                    <a:lstStyle/>
                    <a:p>
                      <a:r>
                        <a:rPr lang="en-US" dirty="0"/>
                        <a:t>3</a:t>
                      </a:r>
                    </a:p>
                  </a:txBody>
                  <a:tcPr/>
                </a:tc>
                <a:tc>
                  <a:txBody>
                    <a:bodyPr/>
                    <a:lstStyle/>
                    <a:p>
                      <a:r>
                        <a:rPr lang="en-US" dirty="0"/>
                        <a:t>11</a:t>
                      </a:r>
                    </a:p>
                  </a:txBody>
                  <a:tcPr/>
                </a:tc>
                <a:tc>
                  <a:txBody>
                    <a:bodyPr/>
                    <a:lstStyle/>
                    <a:p>
                      <a:r>
                        <a:rPr lang="en-US" dirty="0"/>
                        <a:t>33</a:t>
                      </a:r>
                    </a:p>
                  </a:txBody>
                  <a:tcPr/>
                </a:tc>
                <a:tc>
                  <a:txBody>
                    <a:bodyPr/>
                    <a:lstStyle/>
                    <a:p>
                      <a:r>
                        <a:rPr lang="en-US" dirty="0"/>
                        <a:t>20</a:t>
                      </a:r>
                    </a:p>
                  </a:txBody>
                  <a:tcPr/>
                </a:tc>
                <a:extLst>
                  <a:ext uri="{0D108BD9-81ED-4DB2-BD59-A6C34878D82A}">
                    <a16:rowId xmlns:a16="http://schemas.microsoft.com/office/drawing/2014/main" val="1960096130"/>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1" name="Slide Number Placeholder 4">
            <a:extLst>
              <a:ext uri="{FF2B5EF4-FFF2-40B4-BE49-F238E27FC236}">
                <a16:creationId xmlns:a16="http://schemas.microsoft.com/office/drawing/2014/main" id="{F89FE240-271F-4D08-8FE6-B2E70AB0B50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BCE54D11-1B7C-43E4-8258-92B361D3C14F}" type="slidenum">
              <a:rPr lang="en-US" altLang="en-US" sz="1200">
                <a:latin typeface="Garamond" panose="02020404030301010803" pitchFamily="18" charset="0"/>
              </a:rPr>
              <a:pPr>
                <a:spcBef>
                  <a:spcPct val="0"/>
                </a:spcBef>
                <a:buClrTx/>
                <a:buSzTx/>
                <a:buFontTx/>
                <a:buNone/>
              </a:pPr>
              <a:t>23</a:t>
            </a:fld>
            <a:endParaRPr lang="en-US" altLang="en-US" sz="1200">
              <a:latin typeface="Garamond" panose="02020404030301010803" pitchFamily="18" charset="0"/>
            </a:endParaRPr>
          </a:p>
        </p:txBody>
      </p:sp>
      <p:sp>
        <p:nvSpPr>
          <p:cNvPr id="53252" name="Rectangle 2">
            <a:extLst>
              <a:ext uri="{FF2B5EF4-FFF2-40B4-BE49-F238E27FC236}">
                <a16:creationId xmlns:a16="http://schemas.microsoft.com/office/drawing/2014/main" id="{B6280017-D8CB-496D-A435-3D9338F7B617}"/>
              </a:ext>
            </a:extLst>
          </p:cNvPr>
          <p:cNvSpPr>
            <a:spLocks noGrp="1" noChangeArrowheads="1"/>
          </p:cNvSpPr>
          <p:nvPr>
            <p:ph type="title"/>
          </p:nvPr>
        </p:nvSpPr>
        <p:spPr/>
        <p:txBody>
          <a:bodyPr/>
          <a:lstStyle/>
          <a:p>
            <a:pPr eaLnBrk="1" hangingPunct="1"/>
            <a:r>
              <a:rPr lang="en-US" altLang="en-US"/>
              <a:t>Modern Methods (cont.)</a:t>
            </a:r>
          </a:p>
        </p:txBody>
      </p:sp>
      <p:sp>
        <p:nvSpPr>
          <p:cNvPr id="53253" name="Rectangle 3">
            <a:extLst>
              <a:ext uri="{FF2B5EF4-FFF2-40B4-BE49-F238E27FC236}">
                <a16:creationId xmlns:a16="http://schemas.microsoft.com/office/drawing/2014/main" id="{B6FB3C27-CB57-4585-8B26-4F8D6F65727B}"/>
              </a:ext>
            </a:extLst>
          </p:cNvPr>
          <p:cNvSpPr>
            <a:spLocks noGrp="1" noChangeArrowheads="1"/>
          </p:cNvSpPr>
          <p:nvPr>
            <p:ph type="body" idx="1"/>
          </p:nvPr>
        </p:nvSpPr>
        <p:spPr>
          <a:xfrm>
            <a:off x="190501" y="1345803"/>
            <a:ext cx="11696700" cy="6025020"/>
          </a:xfrm>
        </p:spPr>
        <p:txBody>
          <a:bodyPr/>
          <a:lstStyle/>
          <a:p>
            <a:pPr eaLnBrk="1" hangingPunct="1"/>
            <a:r>
              <a:rPr lang="en-US" altLang="en-US" dirty="0"/>
              <a:t>Public key (asymmetric) encryption	</a:t>
            </a:r>
          </a:p>
          <a:p>
            <a:pPr lvl="1" eaLnBrk="1" hangingPunct="1"/>
            <a:r>
              <a:rPr lang="en-US" altLang="en-US" sz="2800" dirty="0"/>
              <a:t>RSA</a:t>
            </a:r>
            <a:endParaRPr lang="en-US" altLang="en-US" sz="3000" dirty="0"/>
          </a:p>
          <a:p>
            <a:pPr lvl="2" eaLnBrk="1" hangingPunct="1"/>
            <a:r>
              <a:rPr lang="en-US" altLang="en-US" dirty="0"/>
              <a:t>Now select another number; call this number e. Pick e so that it is co-prime to m.</a:t>
            </a:r>
          </a:p>
          <a:p>
            <a:pPr lvl="2" eaLnBrk="1" hangingPunct="1"/>
            <a:r>
              <a:rPr lang="en-US" altLang="en-US" dirty="0"/>
              <a:t>Choose a small number e, co-prime to m. </a:t>
            </a:r>
          </a:p>
          <a:p>
            <a:pPr lvl="2" eaLnBrk="1" hangingPunct="1"/>
            <a:r>
              <a:rPr lang="en-US" altLang="en-US" dirty="0"/>
              <a:t>You are almost done generating a key. Now you  just find a number d that when multiplied by e and modulo m would yield a 1. (Note: Modulo means to divide two numbers and return the remainder. For example 8 modulo 3 would be 2.).</a:t>
            </a:r>
          </a:p>
          <a:p>
            <a:pPr lvl="2" eaLnBrk="1" hangingPunct="1"/>
            <a:r>
              <a:rPr lang="en-US" altLang="en-US" dirty="0"/>
              <a:t>Find d, such that de % m = 1.</a:t>
            </a:r>
          </a:p>
          <a:p>
            <a:pPr lvl="2" eaLnBrk="1" hangingPunct="1"/>
            <a:r>
              <a:rPr lang="en-US" altLang="en-US" dirty="0"/>
              <a:t>Now publish e and n as the public key. Keep d and n as the secret key. To encrypt, simply take your message raised to the e power and modulo n.</a:t>
            </a:r>
          </a:p>
        </p:txBody>
      </p:sp>
      <p:graphicFrame>
        <p:nvGraphicFramePr>
          <p:cNvPr id="4" name="Table 3">
            <a:extLst>
              <a:ext uri="{FF2B5EF4-FFF2-40B4-BE49-F238E27FC236}">
                <a16:creationId xmlns:a16="http://schemas.microsoft.com/office/drawing/2014/main" id="{BBF2C673-4776-33A2-8631-1F9C52EF1F54}"/>
              </a:ext>
            </a:extLst>
          </p:cNvPr>
          <p:cNvGraphicFramePr>
            <a:graphicFrameLocks noGrp="1"/>
          </p:cNvGraphicFramePr>
          <p:nvPr>
            <p:extLst>
              <p:ext uri="{D42A27DB-BD31-4B8C-83A1-F6EECF244321}">
                <p14:modId xmlns:p14="http://schemas.microsoft.com/office/powerpoint/2010/main" val="821773634"/>
              </p:ext>
            </p:extLst>
          </p:nvPr>
        </p:nvGraphicFramePr>
        <p:xfrm>
          <a:off x="1018209" y="5336162"/>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3841462458"/>
                    </a:ext>
                  </a:extLst>
                </a:gridCol>
                <a:gridCol w="1354667">
                  <a:extLst>
                    <a:ext uri="{9D8B030D-6E8A-4147-A177-3AD203B41FA5}">
                      <a16:colId xmlns:a16="http://schemas.microsoft.com/office/drawing/2014/main" val="3768158030"/>
                    </a:ext>
                  </a:extLst>
                </a:gridCol>
                <a:gridCol w="1354667">
                  <a:extLst>
                    <a:ext uri="{9D8B030D-6E8A-4147-A177-3AD203B41FA5}">
                      <a16:colId xmlns:a16="http://schemas.microsoft.com/office/drawing/2014/main" val="4242801663"/>
                    </a:ext>
                  </a:extLst>
                </a:gridCol>
                <a:gridCol w="1354667">
                  <a:extLst>
                    <a:ext uri="{9D8B030D-6E8A-4147-A177-3AD203B41FA5}">
                      <a16:colId xmlns:a16="http://schemas.microsoft.com/office/drawing/2014/main" val="1179996540"/>
                    </a:ext>
                  </a:extLst>
                </a:gridCol>
                <a:gridCol w="1354667">
                  <a:extLst>
                    <a:ext uri="{9D8B030D-6E8A-4147-A177-3AD203B41FA5}">
                      <a16:colId xmlns:a16="http://schemas.microsoft.com/office/drawing/2014/main" val="396553763"/>
                    </a:ext>
                  </a:extLst>
                </a:gridCol>
                <a:gridCol w="1354667">
                  <a:extLst>
                    <a:ext uri="{9D8B030D-6E8A-4147-A177-3AD203B41FA5}">
                      <a16:colId xmlns:a16="http://schemas.microsoft.com/office/drawing/2014/main" val="348295456"/>
                    </a:ext>
                  </a:extLst>
                </a:gridCol>
              </a:tblGrid>
              <a:tr h="370840">
                <a:tc>
                  <a:txBody>
                    <a:bodyPr/>
                    <a:lstStyle/>
                    <a:p>
                      <a:r>
                        <a:rPr lang="en-US" dirty="0"/>
                        <a:t>p</a:t>
                      </a:r>
                    </a:p>
                  </a:txBody>
                  <a:tcPr/>
                </a:tc>
                <a:tc>
                  <a:txBody>
                    <a:bodyPr/>
                    <a:lstStyle/>
                    <a:p>
                      <a:r>
                        <a:rPr lang="en-US" dirty="0"/>
                        <a:t>q</a:t>
                      </a:r>
                    </a:p>
                  </a:txBody>
                  <a:tcPr/>
                </a:tc>
                <a:tc>
                  <a:txBody>
                    <a:bodyPr/>
                    <a:lstStyle/>
                    <a:p>
                      <a:r>
                        <a:rPr lang="en-US" dirty="0"/>
                        <a:t>n</a:t>
                      </a:r>
                    </a:p>
                  </a:txBody>
                  <a:tcPr/>
                </a:tc>
                <a:tc>
                  <a:txBody>
                    <a:bodyPr/>
                    <a:lstStyle/>
                    <a:p>
                      <a:r>
                        <a:rPr lang="en-US" dirty="0"/>
                        <a:t>m</a:t>
                      </a:r>
                    </a:p>
                  </a:txBody>
                  <a:tcPr/>
                </a:tc>
                <a:tc>
                  <a:txBody>
                    <a:bodyPr/>
                    <a:lstStyle/>
                    <a:p>
                      <a:r>
                        <a:rPr lang="en-US" dirty="0"/>
                        <a:t>e</a:t>
                      </a:r>
                    </a:p>
                  </a:txBody>
                  <a:tcPr/>
                </a:tc>
                <a:tc>
                  <a:txBody>
                    <a:bodyPr/>
                    <a:lstStyle/>
                    <a:p>
                      <a:r>
                        <a:rPr lang="en-US" dirty="0"/>
                        <a:t>d</a:t>
                      </a:r>
                    </a:p>
                  </a:txBody>
                  <a:tcPr/>
                </a:tc>
                <a:extLst>
                  <a:ext uri="{0D108BD9-81ED-4DB2-BD59-A6C34878D82A}">
                    <a16:rowId xmlns:a16="http://schemas.microsoft.com/office/drawing/2014/main" val="2212745307"/>
                  </a:ext>
                </a:extLst>
              </a:tr>
              <a:tr h="370840">
                <a:tc>
                  <a:txBody>
                    <a:bodyPr/>
                    <a:lstStyle/>
                    <a:p>
                      <a:r>
                        <a:rPr lang="en-US" dirty="0"/>
                        <a:t>3</a:t>
                      </a:r>
                    </a:p>
                  </a:txBody>
                  <a:tcPr/>
                </a:tc>
                <a:tc>
                  <a:txBody>
                    <a:bodyPr/>
                    <a:lstStyle/>
                    <a:p>
                      <a:r>
                        <a:rPr lang="en-US" dirty="0"/>
                        <a:t>11</a:t>
                      </a:r>
                    </a:p>
                  </a:txBody>
                  <a:tcPr/>
                </a:tc>
                <a:tc>
                  <a:txBody>
                    <a:bodyPr/>
                    <a:lstStyle/>
                    <a:p>
                      <a:r>
                        <a:rPr lang="en-US" dirty="0"/>
                        <a:t>33</a:t>
                      </a:r>
                    </a:p>
                  </a:txBody>
                  <a:tcPr/>
                </a:tc>
                <a:tc>
                  <a:txBody>
                    <a:bodyPr/>
                    <a:lstStyle/>
                    <a:p>
                      <a:r>
                        <a:rPr lang="en-US" dirty="0"/>
                        <a:t>20</a:t>
                      </a:r>
                    </a:p>
                  </a:txBody>
                  <a:tcPr/>
                </a:tc>
                <a:tc>
                  <a:txBody>
                    <a:bodyPr/>
                    <a:lstStyle/>
                    <a:p>
                      <a:r>
                        <a:rPr lang="en-US" dirty="0"/>
                        <a:t>7</a:t>
                      </a:r>
                    </a:p>
                  </a:txBody>
                  <a:tcPr/>
                </a:tc>
                <a:tc>
                  <a:txBody>
                    <a:bodyPr/>
                    <a:lstStyle/>
                    <a:p>
                      <a:r>
                        <a:rPr lang="en-US" dirty="0"/>
                        <a:t>3</a:t>
                      </a:r>
                    </a:p>
                  </a:txBody>
                  <a:tcPr/>
                </a:tc>
                <a:extLst>
                  <a:ext uri="{0D108BD9-81ED-4DB2-BD59-A6C34878D82A}">
                    <a16:rowId xmlns:a16="http://schemas.microsoft.com/office/drawing/2014/main" val="196009613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1D965D-0C9E-66C3-1D7D-EA56E443B842}"/>
              </a:ext>
            </a:extLst>
          </p:cNvPr>
          <p:cNvSpPr>
            <a:spLocks noGrp="1"/>
          </p:cNvSpPr>
          <p:nvPr>
            <p:ph type="title"/>
          </p:nvPr>
        </p:nvSpPr>
        <p:spPr/>
        <p:txBody>
          <a:bodyPr/>
          <a:lstStyle/>
          <a:p>
            <a:r>
              <a:rPr lang="en-US" dirty="0"/>
              <a:t>RSA Continued</a:t>
            </a:r>
          </a:p>
        </p:txBody>
      </p:sp>
      <p:sp>
        <p:nvSpPr>
          <p:cNvPr id="3" name="Content Placeholder 2">
            <a:extLst>
              <a:ext uri="{FF2B5EF4-FFF2-40B4-BE49-F238E27FC236}">
                <a16:creationId xmlns:a16="http://schemas.microsoft.com/office/drawing/2014/main" id="{5824BC02-7796-6579-6EB8-DC087B23D07C}"/>
              </a:ext>
            </a:extLst>
          </p:cNvPr>
          <p:cNvSpPr>
            <a:spLocks noGrp="1"/>
          </p:cNvSpPr>
          <p:nvPr>
            <p:ph idx="1"/>
          </p:nvPr>
        </p:nvSpPr>
        <p:spPr/>
        <p:txBody>
          <a:bodyPr/>
          <a:lstStyle/>
          <a:p>
            <a:pPr algn="l">
              <a:buFont typeface="Arial" panose="020B0604020202020204" pitchFamily="34" charset="0"/>
              <a:buChar char="•"/>
            </a:pPr>
            <a:r>
              <a:rPr lang="en-US" b="0" i="0" dirty="0">
                <a:solidFill>
                  <a:srgbClr val="000000"/>
                </a:solidFill>
                <a:effectLst/>
                <a:latin typeface="Times"/>
              </a:rPr>
              <a:t>Public key is (e, n) =&gt; (7, 33)</a:t>
            </a:r>
          </a:p>
          <a:p>
            <a:pPr algn="l">
              <a:buFont typeface="Arial" panose="020B0604020202020204" pitchFamily="34" charset="0"/>
              <a:buChar char="•"/>
            </a:pPr>
            <a:r>
              <a:rPr lang="en-US" b="0" i="0" dirty="0">
                <a:solidFill>
                  <a:srgbClr val="000000"/>
                </a:solidFill>
                <a:effectLst/>
                <a:latin typeface="Times"/>
              </a:rPr>
              <a:t>Private key is (d, n) =&gt; (3, 33)</a:t>
            </a:r>
          </a:p>
          <a:p>
            <a:pPr algn="l">
              <a:buFont typeface="Arial" panose="020B0604020202020204" pitchFamily="34" charset="0"/>
              <a:buChar char="•"/>
            </a:pPr>
            <a:r>
              <a:rPr lang="en-US" b="0" i="0" dirty="0">
                <a:solidFill>
                  <a:srgbClr val="000000"/>
                </a:solidFill>
                <a:effectLst/>
                <a:latin typeface="Times"/>
              </a:rPr>
              <a:t>The encryption of </a:t>
            </a:r>
            <a:r>
              <a:rPr lang="en-US" b="0" i="1" dirty="0">
                <a:solidFill>
                  <a:srgbClr val="000000"/>
                </a:solidFill>
                <a:effectLst/>
                <a:latin typeface="Times"/>
              </a:rPr>
              <a:t>m = 2</a:t>
            </a:r>
            <a:r>
              <a:rPr lang="en-US" b="0" i="0" dirty="0">
                <a:solidFill>
                  <a:srgbClr val="000000"/>
                </a:solidFill>
                <a:effectLst/>
                <a:latin typeface="Times"/>
              </a:rPr>
              <a:t> is </a:t>
            </a:r>
            <a:r>
              <a:rPr lang="en-US" b="0" i="1" dirty="0">
                <a:solidFill>
                  <a:srgbClr val="000000"/>
                </a:solidFill>
                <a:effectLst/>
                <a:latin typeface="Times"/>
              </a:rPr>
              <a:t>c = 2</a:t>
            </a:r>
            <a:r>
              <a:rPr lang="en-US" b="0" i="1" baseline="30000" dirty="0">
                <a:solidFill>
                  <a:srgbClr val="000000"/>
                </a:solidFill>
                <a:effectLst/>
                <a:latin typeface="Times"/>
              </a:rPr>
              <a:t>7</a:t>
            </a:r>
            <a:r>
              <a:rPr lang="en-US" b="0" i="1" dirty="0">
                <a:solidFill>
                  <a:srgbClr val="000000"/>
                </a:solidFill>
                <a:effectLst/>
                <a:latin typeface="Times"/>
              </a:rPr>
              <a:t> % 33 = 29</a:t>
            </a:r>
            <a:endParaRPr lang="en-US" b="0" i="0" dirty="0">
              <a:solidFill>
                <a:srgbClr val="000000"/>
              </a:solidFill>
              <a:effectLst/>
              <a:latin typeface="Times"/>
            </a:endParaRPr>
          </a:p>
          <a:p>
            <a:pPr algn="l">
              <a:buFont typeface="Arial" panose="020B0604020202020204" pitchFamily="34" charset="0"/>
              <a:buChar char="•"/>
            </a:pPr>
            <a:r>
              <a:rPr lang="en-US" b="0" i="0" dirty="0">
                <a:solidFill>
                  <a:srgbClr val="000000"/>
                </a:solidFill>
                <a:effectLst/>
                <a:latin typeface="Times"/>
              </a:rPr>
              <a:t>The decryption of </a:t>
            </a:r>
            <a:r>
              <a:rPr lang="en-US" b="0" i="1" dirty="0">
                <a:solidFill>
                  <a:srgbClr val="000000"/>
                </a:solidFill>
                <a:effectLst/>
                <a:latin typeface="Times"/>
              </a:rPr>
              <a:t>c = 29</a:t>
            </a:r>
            <a:r>
              <a:rPr lang="en-US" b="0" i="0" dirty="0">
                <a:solidFill>
                  <a:srgbClr val="000000"/>
                </a:solidFill>
                <a:effectLst/>
                <a:latin typeface="Times"/>
              </a:rPr>
              <a:t> is </a:t>
            </a:r>
            <a:r>
              <a:rPr lang="en-US" b="0" i="1" dirty="0">
                <a:solidFill>
                  <a:srgbClr val="000000"/>
                </a:solidFill>
                <a:effectLst/>
                <a:latin typeface="Times"/>
              </a:rPr>
              <a:t>m = 29</a:t>
            </a:r>
            <a:r>
              <a:rPr lang="en-US" b="0" i="1" baseline="30000" dirty="0">
                <a:solidFill>
                  <a:srgbClr val="000000"/>
                </a:solidFill>
                <a:effectLst/>
                <a:latin typeface="Times"/>
              </a:rPr>
              <a:t>3</a:t>
            </a:r>
            <a:r>
              <a:rPr lang="en-US" b="0" i="1" dirty="0">
                <a:solidFill>
                  <a:srgbClr val="000000"/>
                </a:solidFill>
                <a:effectLst/>
                <a:latin typeface="Times"/>
              </a:rPr>
              <a:t> % 33 = 2</a:t>
            </a:r>
            <a:endParaRPr lang="en-US" b="0" i="0" dirty="0">
              <a:solidFill>
                <a:srgbClr val="000000"/>
              </a:solidFill>
              <a:effectLst/>
              <a:latin typeface="Times"/>
            </a:endParaRPr>
          </a:p>
          <a:p>
            <a:pPr marL="0" indent="0">
              <a:buNone/>
            </a:pPr>
            <a:endParaRPr lang="en-US" dirty="0"/>
          </a:p>
        </p:txBody>
      </p:sp>
      <p:sp>
        <p:nvSpPr>
          <p:cNvPr id="4" name="Slide Number Placeholder 3">
            <a:extLst>
              <a:ext uri="{FF2B5EF4-FFF2-40B4-BE49-F238E27FC236}">
                <a16:creationId xmlns:a16="http://schemas.microsoft.com/office/drawing/2014/main" id="{BF50920C-36F0-E130-050D-ED8F5E498EF5}"/>
              </a:ext>
            </a:extLst>
          </p:cNvPr>
          <p:cNvSpPr>
            <a:spLocks noGrp="1"/>
          </p:cNvSpPr>
          <p:nvPr>
            <p:ph type="sldNum" sz="quarter" idx="12"/>
          </p:nvPr>
        </p:nvSpPr>
        <p:spPr/>
        <p:txBody>
          <a:bodyPr/>
          <a:lstStyle/>
          <a:p>
            <a:fld id="{094C11E7-507F-4422-8D09-51AE60736DD4}" type="slidenum">
              <a:rPr lang="en-US" smtClean="0"/>
              <a:t>24</a:t>
            </a:fld>
            <a:endParaRPr lang="en-US"/>
          </a:p>
        </p:txBody>
      </p:sp>
      <p:graphicFrame>
        <p:nvGraphicFramePr>
          <p:cNvPr id="5" name="Table 4">
            <a:extLst>
              <a:ext uri="{FF2B5EF4-FFF2-40B4-BE49-F238E27FC236}">
                <a16:creationId xmlns:a16="http://schemas.microsoft.com/office/drawing/2014/main" id="{ECCA33CC-0069-6CBD-8FE3-CC4B35328F41}"/>
              </a:ext>
            </a:extLst>
          </p:cNvPr>
          <p:cNvGraphicFramePr>
            <a:graphicFrameLocks noGrp="1"/>
          </p:cNvGraphicFramePr>
          <p:nvPr>
            <p:extLst>
              <p:ext uri="{D42A27DB-BD31-4B8C-83A1-F6EECF244321}">
                <p14:modId xmlns:p14="http://schemas.microsoft.com/office/powerpoint/2010/main" val="427962268"/>
              </p:ext>
            </p:extLst>
          </p:nvPr>
        </p:nvGraphicFramePr>
        <p:xfrm>
          <a:off x="1018209" y="5336162"/>
          <a:ext cx="8128002" cy="74168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3841462458"/>
                    </a:ext>
                  </a:extLst>
                </a:gridCol>
                <a:gridCol w="1354667">
                  <a:extLst>
                    <a:ext uri="{9D8B030D-6E8A-4147-A177-3AD203B41FA5}">
                      <a16:colId xmlns:a16="http://schemas.microsoft.com/office/drawing/2014/main" val="3768158030"/>
                    </a:ext>
                  </a:extLst>
                </a:gridCol>
                <a:gridCol w="1354667">
                  <a:extLst>
                    <a:ext uri="{9D8B030D-6E8A-4147-A177-3AD203B41FA5}">
                      <a16:colId xmlns:a16="http://schemas.microsoft.com/office/drawing/2014/main" val="4242801663"/>
                    </a:ext>
                  </a:extLst>
                </a:gridCol>
                <a:gridCol w="1354667">
                  <a:extLst>
                    <a:ext uri="{9D8B030D-6E8A-4147-A177-3AD203B41FA5}">
                      <a16:colId xmlns:a16="http://schemas.microsoft.com/office/drawing/2014/main" val="1179996540"/>
                    </a:ext>
                  </a:extLst>
                </a:gridCol>
                <a:gridCol w="1354667">
                  <a:extLst>
                    <a:ext uri="{9D8B030D-6E8A-4147-A177-3AD203B41FA5}">
                      <a16:colId xmlns:a16="http://schemas.microsoft.com/office/drawing/2014/main" val="396553763"/>
                    </a:ext>
                  </a:extLst>
                </a:gridCol>
                <a:gridCol w="1354667">
                  <a:extLst>
                    <a:ext uri="{9D8B030D-6E8A-4147-A177-3AD203B41FA5}">
                      <a16:colId xmlns:a16="http://schemas.microsoft.com/office/drawing/2014/main" val="348295456"/>
                    </a:ext>
                  </a:extLst>
                </a:gridCol>
              </a:tblGrid>
              <a:tr h="370840">
                <a:tc>
                  <a:txBody>
                    <a:bodyPr/>
                    <a:lstStyle/>
                    <a:p>
                      <a:r>
                        <a:rPr lang="en-US" dirty="0"/>
                        <a:t>p</a:t>
                      </a:r>
                    </a:p>
                  </a:txBody>
                  <a:tcPr/>
                </a:tc>
                <a:tc>
                  <a:txBody>
                    <a:bodyPr/>
                    <a:lstStyle/>
                    <a:p>
                      <a:r>
                        <a:rPr lang="en-US" dirty="0"/>
                        <a:t>q</a:t>
                      </a:r>
                    </a:p>
                  </a:txBody>
                  <a:tcPr/>
                </a:tc>
                <a:tc>
                  <a:txBody>
                    <a:bodyPr/>
                    <a:lstStyle/>
                    <a:p>
                      <a:r>
                        <a:rPr lang="en-US" dirty="0"/>
                        <a:t>n</a:t>
                      </a:r>
                    </a:p>
                  </a:txBody>
                  <a:tcPr/>
                </a:tc>
                <a:tc>
                  <a:txBody>
                    <a:bodyPr/>
                    <a:lstStyle/>
                    <a:p>
                      <a:r>
                        <a:rPr lang="en-US" dirty="0"/>
                        <a:t>m</a:t>
                      </a:r>
                    </a:p>
                  </a:txBody>
                  <a:tcPr/>
                </a:tc>
                <a:tc>
                  <a:txBody>
                    <a:bodyPr/>
                    <a:lstStyle/>
                    <a:p>
                      <a:r>
                        <a:rPr lang="en-US" dirty="0"/>
                        <a:t>e</a:t>
                      </a:r>
                    </a:p>
                  </a:txBody>
                  <a:tcPr/>
                </a:tc>
                <a:tc>
                  <a:txBody>
                    <a:bodyPr/>
                    <a:lstStyle/>
                    <a:p>
                      <a:r>
                        <a:rPr lang="en-US" dirty="0"/>
                        <a:t>d</a:t>
                      </a:r>
                    </a:p>
                  </a:txBody>
                  <a:tcPr/>
                </a:tc>
                <a:extLst>
                  <a:ext uri="{0D108BD9-81ED-4DB2-BD59-A6C34878D82A}">
                    <a16:rowId xmlns:a16="http://schemas.microsoft.com/office/drawing/2014/main" val="2212745307"/>
                  </a:ext>
                </a:extLst>
              </a:tr>
              <a:tr h="370840">
                <a:tc>
                  <a:txBody>
                    <a:bodyPr/>
                    <a:lstStyle/>
                    <a:p>
                      <a:r>
                        <a:rPr lang="en-US" dirty="0"/>
                        <a:t>3</a:t>
                      </a:r>
                    </a:p>
                  </a:txBody>
                  <a:tcPr/>
                </a:tc>
                <a:tc>
                  <a:txBody>
                    <a:bodyPr/>
                    <a:lstStyle/>
                    <a:p>
                      <a:r>
                        <a:rPr lang="en-US" dirty="0"/>
                        <a:t>11</a:t>
                      </a:r>
                    </a:p>
                  </a:txBody>
                  <a:tcPr/>
                </a:tc>
                <a:tc>
                  <a:txBody>
                    <a:bodyPr/>
                    <a:lstStyle/>
                    <a:p>
                      <a:r>
                        <a:rPr lang="en-US" dirty="0"/>
                        <a:t>33</a:t>
                      </a:r>
                    </a:p>
                  </a:txBody>
                  <a:tcPr/>
                </a:tc>
                <a:tc>
                  <a:txBody>
                    <a:bodyPr/>
                    <a:lstStyle/>
                    <a:p>
                      <a:r>
                        <a:rPr lang="en-US" dirty="0"/>
                        <a:t>20</a:t>
                      </a:r>
                    </a:p>
                  </a:txBody>
                  <a:tcPr/>
                </a:tc>
                <a:tc>
                  <a:txBody>
                    <a:bodyPr/>
                    <a:lstStyle/>
                    <a:p>
                      <a:r>
                        <a:rPr lang="en-US" dirty="0"/>
                        <a:t>7</a:t>
                      </a:r>
                    </a:p>
                  </a:txBody>
                  <a:tcPr/>
                </a:tc>
                <a:tc>
                  <a:txBody>
                    <a:bodyPr/>
                    <a:lstStyle/>
                    <a:p>
                      <a:r>
                        <a:rPr lang="en-US" dirty="0"/>
                        <a:t>3</a:t>
                      </a:r>
                    </a:p>
                  </a:txBody>
                  <a:tcPr/>
                </a:tc>
                <a:extLst>
                  <a:ext uri="{0D108BD9-81ED-4DB2-BD59-A6C34878D82A}">
                    <a16:rowId xmlns:a16="http://schemas.microsoft.com/office/drawing/2014/main" val="1960096130"/>
                  </a:ext>
                </a:extLst>
              </a:tr>
            </a:tbl>
          </a:graphicData>
        </a:graphic>
      </p:graphicFrame>
    </p:spTree>
    <p:extLst>
      <p:ext uri="{BB962C8B-B14F-4D97-AF65-F5344CB8AC3E}">
        <p14:creationId xmlns:p14="http://schemas.microsoft.com/office/powerpoint/2010/main" val="33689875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Title 1">
            <a:extLst>
              <a:ext uri="{FF2B5EF4-FFF2-40B4-BE49-F238E27FC236}">
                <a16:creationId xmlns:a16="http://schemas.microsoft.com/office/drawing/2014/main" id="{12A84E18-5354-4558-B8BD-B6CF44FCE205}"/>
              </a:ext>
            </a:extLst>
          </p:cNvPr>
          <p:cNvSpPr>
            <a:spLocks noGrp="1"/>
          </p:cNvSpPr>
          <p:nvPr>
            <p:ph type="title"/>
          </p:nvPr>
        </p:nvSpPr>
        <p:spPr/>
        <p:txBody>
          <a:bodyPr/>
          <a:lstStyle/>
          <a:p>
            <a:r>
              <a:rPr lang="en-US" altLang="en-US"/>
              <a:t>Avoid ‘bad’ crypto</a:t>
            </a:r>
          </a:p>
        </p:txBody>
      </p:sp>
      <p:sp>
        <p:nvSpPr>
          <p:cNvPr id="59395" name="Content Placeholder 2">
            <a:extLst>
              <a:ext uri="{FF2B5EF4-FFF2-40B4-BE49-F238E27FC236}">
                <a16:creationId xmlns:a16="http://schemas.microsoft.com/office/drawing/2014/main" id="{E536AC2B-AEC9-4BAA-91A4-0E6588C1E6A1}"/>
              </a:ext>
            </a:extLst>
          </p:cNvPr>
          <p:cNvSpPr>
            <a:spLocks noGrp="1"/>
          </p:cNvSpPr>
          <p:nvPr>
            <p:ph idx="1"/>
          </p:nvPr>
        </p:nvSpPr>
        <p:spPr>
          <a:xfrm>
            <a:off x="838200" y="1439067"/>
            <a:ext cx="10515600" cy="4737896"/>
          </a:xfrm>
        </p:spPr>
        <p:txBody>
          <a:bodyPr>
            <a:normAutofit/>
          </a:bodyPr>
          <a:lstStyle/>
          <a:p>
            <a:r>
              <a:rPr lang="en-US" altLang="en-US" sz="3600" dirty="0"/>
              <a:t>Unbreakable</a:t>
            </a:r>
          </a:p>
          <a:p>
            <a:r>
              <a:rPr lang="en-US" altLang="en-US" sz="3600" dirty="0" err="1"/>
              <a:t>Unhackable</a:t>
            </a:r>
            <a:endParaRPr lang="en-US" altLang="en-US" sz="3600" dirty="0"/>
          </a:p>
          <a:p>
            <a:r>
              <a:rPr lang="en-US" altLang="en-US" sz="3600" dirty="0"/>
              <a:t>Secret algorithm</a:t>
            </a:r>
          </a:p>
          <a:p>
            <a:r>
              <a:rPr lang="en-US" altLang="en-US" sz="3600" dirty="0"/>
              <a:t>Kerckhoff’s principle</a:t>
            </a:r>
          </a:p>
          <a:p>
            <a:pPr lvl="1"/>
            <a:r>
              <a:rPr lang="en-US" sz="2400" b="0" i="1" dirty="0">
                <a:solidFill>
                  <a:schemeClr val="tx1">
                    <a:lumMod val="50000"/>
                    <a:lumOff val="50000"/>
                  </a:schemeClr>
                </a:solidFill>
                <a:effectLst/>
                <a:latin typeface="Open Sans" panose="020F0502020204030204" pitchFamily="34" charset="0"/>
              </a:rPr>
              <a:t>“It must not require secrecy and must be able to fall into the hands of the enemy without harm.”</a:t>
            </a:r>
            <a:endParaRPr lang="en-US" altLang="en-US" sz="3200" dirty="0">
              <a:solidFill>
                <a:schemeClr val="tx1">
                  <a:lumMod val="50000"/>
                  <a:lumOff val="50000"/>
                </a:schemeClr>
              </a:solidFill>
            </a:endParaRPr>
          </a:p>
        </p:txBody>
      </p:sp>
      <p:sp>
        <p:nvSpPr>
          <p:cNvPr id="59397" name="Slide Number Placeholder 4">
            <a:extLst>
              <a:ext uri="{FF2B5EF4-FFF2-40B4-BE49-F238E27FC236}">
                <a16:creationId xmlns:a16="http://schemas.microsoft.com/office/drawing/2014/main" id="{14EE04AC-4997-48A6-A02C-987E3298778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98B930B-9F52-4FB6-9F8B-7BA4ECDF3236}" type="slidenum">
              <a:rPr lang="en-US" altLang="en-US" smtClean="0">
                <a:solidFill>
                  <a:schemeClr val="accent1"/>
                </a:solidFill>
                <a:latin typeface="Garamond" panose="02020404030301010803" pitchFamily="18" charset="0"/>
              </a:rPr>
              <a:pPr/>
              <a:t>25</a:t>
            </a:fld>
            <a:endParaRPr lang="en-US" altLang="en-US">
              <a:solidFill>
                <a:schemeClr val="accent1"/>
              </a:solidFill>
              <a:latin typeface="Garamond" panose="02020404030301010803"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1">
            <a:extLst>
              <a:ext uri="{FF2B5EF4-FFF2-40B4-BE49-F238E27FC236}">
                <a16:creationId xmlns:a16="http://schemas.microsoft.com/office/drawing/2014/main" id="{9C686A89-92F4-40A6-959C-24E8B466FC47}"/>
              </a:ext>
            </a:extLst>
          </p:cNvPr>
          <p:cNvSpPr>
            <a:spLocks noGrp="1"/>
          </p:cNvSpPr>
          <p:nvPr>
            <p:ph type="title"/>
          </p:nvPr>
        </p:nvSpPr>
        <p:spPr/>
        <p:txBody>
          <a:bodyPr/>
          <a:lstStyle/>
          <a:p>
            <a:r>
              <a:rPr lang="en-US" altLang="en-US"/>
              <a:t>Digital Signatures</a:t>
            </a:r>
          </a:p>
        </p:txBody>
      </p:sp>
      <p:sp>
        <p:nvSpPr>
          <p:cNvPr id="61443" name="Content Placeholder 2">
            <a:extLst>
              <a:ext uri="{FF2B5EF4-FFF2-40B4-BE49-F238E27FC236}">
                <a16:creationId xmlns:a16="http://schemas.microsoft.com/office/drawing/2014/main" id="{794E5D3A-950A-4FE1-AE73-5E02D77B3121}"/>
              </a:ext>
            </a:extLst>
          </p:cNvPr>
          <p:cNvSpPr>
            <a:spLocks noGrp="1"/>
          </p:cNvSpPr>
          <p:nvPr>
            <p:ph idx="1"/>
          </p:nvPr>
        </p:nvSpPr>
        <p:spPr/>
        <p:txBody>
          <a:bodyPr/>
          <a:lstStyle/>
          <a:p>
            <a:r>
              <a:rPr lang="en-US" altLang="en-US" sz="2000" dirty="0"/>
              <a:t>A digital signature is not used to ensure the confidentiality of a message, but rather to guarantee who sent the message. This is referred to as nonrepudiation. </a:t>
            </a:r>
          </a:p>
          <a:p>
            <a:r>
              <a:rPr lang="en-US" altLang="en-US" sz="2000" dirty="0"/>
              <a:t>Essentially, it proves who the sender is. </a:t>
            </a:r>
          </a:p>
          <a:p>
            <a:r>
              <a:rPr lang="en-US" altLang="en-US" sz="2000" dirty="0"/>
              <a:t>Digital signatures are actually rather simple, but clever. </a:t>
            </a:r>
          </a:p>
          <a:p>
            <a:r>
              <a:rPr lang="en-US" altLang="en-US" sz="2000" dirty="0"/>
              <a:t>They simply reverse the asymmetric encryption process. </a:t>
            </a:r>
          </a:p>
          <a:p>
            <a:r>
              <a:rPr lang="en-US" altLang="en-US" sz="2000" dirty="0"/>
              <a:t>Recall that in asymmetric encryption the public key (which anyone can have access to) is used to encrypt a message to the recipient, and the private key (which is kept secure and private) can decrypt it. </a:t>
            </a:r>
          </a:p>
          <a:p>
            <a:r>
              <a:rPr lang="en-US" altLang="en-US" sz="2000" dirty="0"/>
              <a:t>With a digital signature, the sender encrypts something with his private key. </a:t>
            </a:r>
          </a:p>
          <a:p>
            <a:r>
              <a:rPr lang="en-US" altLang="en-US" sz="2000" dirty="0"/>
              <a:t>If the recipient can decrypt that with the sender's public key, then it must have been sent by the person purported to have sent the message.</a:t>
            </a:r>
          </a:p>
          <a:p>
            <a:endParaRPr lang="en-US" altLang="en-US" dirty="0"/>
          </a:p>
        </p:txBody>
      </p:sp>
      <p:sp>
        <p:nvSpPr>
          <p:cNvPr id="61445" name="Slide Number Placeholder 4">
            <a:extLst>
              <a:ext uri="{FF2B5EF4-FFF2-40B4-BE49-F238E27FC236}">
                <a16:creationId xmlns:a16="http://schemas.microsoft.com/office/drawing/2014/main" id="{DE77CCD4-1442-4A5C-B0FA-F72B2069C976}"/>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31471E8C-33A3-4E6B-B4BB-3C500BE1876C}" type="slidenum">
              <a:rPr lang="en-US" altLang="en-US" sz="1200">
                <a:latin typeface="Garamond" panose="02020404030301010803" pitchFamily="18" charset="0"/>
              </a:rPr>
              <a:pPr>
                <a:spcBef>
                  <a:spcPct val="0"/>
                </a:spcBef>
                <a:buClrTx/>
                <a:buSzTx/>
                <a:buFontTx/>
                <a:buNone/>
              </a:pPr>
              <a:t>26</a:t>
            </a:fld>
            <a:endParaRPr lang="en-US" altLang="en-US" sz="1200">
              <a:latin typeface="Garamond" panose="02020404030301010803"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Title 1">
            <a:extLst>
              <a:ext uri="{FF2B5EF4-FFF2-40B4-BE49-F238E27FC236}">
                <a16:creationId xmlns:a16="http://schemas.microsoft.com/office/drawing/2014/main" id="{CB9F987B-5FD1-4A1B-B40F-C77A59F2BBB2}"/>
              </a:ext>
            </a:extLst>
          </p:cNvPr>
          <p:cNvSpPr>
            <a:spLocks noGrp="1"/>
          </p:cNvSpPr>
          <p:nvPr>
            <p:ph type="title"/>
          </p:nvPr>
        </p:nvSpPr>
        <p:spPr/>
        <p:txBody>
          <a:bodyPr/>
          <a:lstStyle/>
          <a:p>
            <a:r>
              <a:rPr lang="en-US" altLang="en-US"/>
              <a:t>Hash</a:t>
            </a:r>
          </a:p>
        </p:txBody>
      </p:sp>
      <p:sp>
        <p:nvSpPr>
          <p:cNvPr id="62467" name="Content Placeholder 2">
            <a:extLst>
              <a:ext uri="{FF2B5EF4-FFF2-40B4-BE49-F238E27FC236}">
                <a16:creationId xmlns:a16="http://schemas.microsoft.com/office/drawing/2014/main" id="{985DF9BD-9BEE-485E-91B5-35245A041473}"/>
              </a:ext>
            </a:extLst>
          </p:cNvPr>
          <p:cNvSpPr>
            <a:spLocks noGrp="1"/>
          </p:cNvSpPr>
          <p:nvPr>
            <p:ph idx="1"/>
          </p:nvPr>
        </p:nvSpPr>
        <p:spPr/>
        <p:txBody>
          <a:bodyPr/>
          <a:lstStyle/>
          <a:p>
            <a:r>
              <a:rPr lang="en-US" altLang="en-US" dirty="0"/>
              <a:t> Hashing is a type of cryptographic algorithm that has some specific characteristics. </a:t>
            </a:r>
          </a:p>
          <a:p>
            <a:r>
              <a:rPr lang="en-US" altLang="en-US" dirty="0"/>
              <a:t>First and foremost it is one way. </a:t>
            </a:r>
          </a:p>
          <a:p>
            <a:pPr lvl="1"/>
            <a:r>
              <a:rPr lang="en-US" altLang="en-US" dirty="0"/>
              <a:t>That means you cannot "</a:t>
            </a:r>
            <a:r>
              <a:rPr lang="en-US" altLang="en-US" dirty="0" err="1"/>
              <a:t>unhash</a:t>
            </a:r>
            <a:r>
              <a:rPr lang="en-US" altLang="en-US" dirty="0"/>
              <a:t>" something. </a:t>
            </a:r>
          </a:p>
          <a:p>
            <a:r>
              <a:rPr lang="en-US" altLang="en-US" dirty="0"/>
              <a:t>The second characteristic is that you get a fixed-length output no matter what input is given. </a:t>
            </a:r>
          </a:p>
          <a:p>
            <a:r>
              <a:rPr lang="en-US" altLang="en-US" dirty="0"/>
              <a:t>Finally, it should have few or no collisions. </a:t>
            </a:r>
          </a:p>
          <a:p>
            <a:pPr lvl="1"/>
            <a:r>
              <a:rPr lang="en-US" altLang="en-US" dirty="0"/>
              <a:t>A collision is when two different inputs provide the same output.</a:t>
            </a:r>
          </a:p>
        </p:txBody>
      </p:sp>
      <p:sp>
        <p:nvSpPr>
          <p:cNvPr id="62469" name="Slide Number Placeholder 4">
            <a:extLst>
              <a:ext uri="{FF2B5EF4-FFF2-40B4-BE49-F238E27FC236}">
                <a16:creationId xmlns:a16="http://schemas.microsoft.com/office/drawing/2014/main" id="{1A6CFBDA-1179-4624-9D04-196AD0E50E31}"/>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0F3B55B5-933E-4769-8FE0-56BF76FC4FDD}" type="slidenum">
              <a:rPr lang="en-US" altLang="en-US" sz="1200">
                <a:latin typeface="Garamond" panose="02020404030301010803" pitchFamily="18" charset="0"/>
              </a:rPr>
              <a:pPr>
                <a:spcBef>
                  <a:spcPct val="0"/>
                </a:spcBef>
                <a:buClrTx/>
                <a:buSzTx/>
                <a:buFontTx/>
                <a:buNone/>
              </a:pPr>
              <a:t>27</a:t>
            </a:fld>
            <a:endParaRPr lang="en-US" altLang="en-US" sz="1200">
              <a:latin typeface="Garamond" panose="02020404030301010803" pitchFamily="18"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Title 1">
            <a:extLst>
              <a:ext uri="{FF2B5EF4-FFF2-40B4-BE49-F238E27FC236}">
                <a16:creationId xmlns:a16="http://schemas.microsoft.com/office/drawing/2014/main" id="{2FB1C339-B48F-418F-BC1E-49D54125595B}"/>
              </a:ext>
            </a:extLst>
          </p:cNvPr>
          <p:cNvSpPr>
            <a:spLocks noGrp="1"/>
          </p:cNvSpPr>
          <p:nvPr>
            <p:ph type="title"/>
          </p:nvPr>
        </p:nvSpPr>
        <p:spPr/>
        <p:txBody>
          <a:bodyPr/>
          <a:lstStyle/>
          <a:p>
            <a:r>
              <a:rPr lang="en-US" altLang="en-US"/>
              <a:t>Hash – cont.</a:t>
            </a:r>
          </a:p>
        </p:txBody>
      </p:sp>
      <p:sp>
        <p:nvSpPr>
          <p:cNvPr id="63491" name="Content Placeholder 2">
            <a:extLst>
              <a:ext uri="{FF2B5EF4-FFF2-40B4-BE49-F238E27FC236}">
                <a16:creationId xmlns:a16="http://schemas.microsoft.com/office/drawing/2014/main" id="{DCDAA14D-2EF3-4B4D-94C9-11CAAF880486}"/>
              </a:ext>
            </a:extLst>
          </p:cNvPr>
          <p:cNvSpPr>
            <a:spLocks noGrp="1"/>
          </p:cNvSpPr>
          <p:nvPr>
            <p:ph idx="1"/>
          </p:nvPr>
        </p:nvSpPr>
        <p:spPr/>
        <p:txBody>
          <a:bodyPr/>
          <a:lstStyle/>
          <a:p>
            <a:r>
              <a:rPr lang="en-US" altLang="en-US"/>
              <a:t>MD5</a:t>
            </a:r>
          </a:p>
          <a:p>
            <a:r>
              <a:rPr lang="en-US" altLang="en-US"/>
              <a:t>SHA1</a:t>
            </a:r>
          </a:p>
          <a:p>
            <a:r>
              <a:rPr lang="en-US" altLang="en-US"/>
              <a:t>SHA2</a:t>
            </a:r>
          </a:p>
          <a:p>
            <a:r>
              <a:rPr lang="en-US" altLang="en-US"/>
              <a:t>SHA3</a:t>
            </a:r>
          </a:p>
        </p:txBody>
      </p:sp>
      <p:sp>
        <p:nvSpPr>
          <p:cNvPr id="63493" name="Slide Number Placeholder 4">
            <a:extLst>
              <a:ext uri="{FF2B5EF4-FFF2-40B4-BE49-F238E27FC236}">
                <a16:creationId xmlns:a16="http://schemas.microsoft.com/office/drawing/2014/main" id="{8E541A87-4072-41A6-8CF7-84657B2EB217}"/>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B8D10660-2B90-45D5-B21E-498995952D9B}" type="slidenum">
              <a:rPr lang="en-US" altLang="en-US" sz="1200">
                <a:latin typeface="Garamond" panose="02020404030301010803" pitchFamily="18" charset="0"/>
              </a:rPr>
              <a:pPr>
                <a:spcBef>
                  <a:spcPct val="0"/>
                </a:spcBef>
                <a:buClrTx/>
                <a:buSzTx/>
                <a:buFontTx/>
                <a:buNone/>
              </a:pPr>
              <a:t>28</a:t>
            </a:fld>
            <a:endParaRPr lang="en-US" altLang="en-US" sz="1200">
              <a:latin typeface="Garamond" panose="02020404030301010803"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1">
            <a:extLst>
              <a:ext uri="{FF2B5EF4-FFF2-40B4-BE49-F238E27FC236}">
                <a16:creationId xmlns:a16="http://schemas.microsoft.com/office/drawing/2014/main" id="{88D039EF-86DA-4FB9-81D9-904B4308BCC3}"/>
              </a:ext>
            </a:extLst>
          </p:cNvPr>
          <p:cNvSpPr>
            <a:spLocks noGrp="1"/>
          </p:cNvSpPr>
          <p:nvPr>
            <p:ph type="title"/>
          </p:nvPr>
        </p:nvSpPr>
        <p:spPr/>
        <p:txBody>
          <a:bodyPr/>
          <a:lstStyle/>
          <a:p>
            <a:r>
              <a:rPr lang="en-US" altLang="en-US" sz="4000"/>
              <a:t>VERY Simple Illustration of Rainbow Tables</a:t>
            </a:r>
          </a:p>
        </p:txBody>
      </p:sp>
      <p:graphicFrame>
        <p:nvGraphicFramePr>
          <p:cNvPr id="5" name="Content Placeholder 4">
            <a:extLst>
              <a:ext uri="{FF2B5EF4-FFF2-40B4-BE49-F238E27FC236}">
                <a16:creationId xmlns:a16="http://schemas.microsoft.com/office/drawing/2014/main" id="{60627974-7CD9-4C02-964A-9014949E8139}"/>
              </a:ext>
            </a:extLst>
          </p:cNvPr>
          <p:cNvGraphicFramePr>
            <a:graphicFrameLocks noGrp="1"/>
          </p:cNvGraphicFramePr>
          <p:nvPr>
            <p:ph idx="1"/>
            <p:extLst>
              <p:ext uri="{D42A27DB-BD31-4B8C-83A1-F6EECF244321}">
                <p14:modId xmlns:p14="http://schemas.microsoft.com/office/powerpoint/2010/main" val="2183795060"/>
              </p:ext>
            </p:extLst>
          </p:nvPr>
        </p:nvGraphicFramePr>
        <p:xfrm>
          <a:off x="754144" y="1728336"/>
          <a:ext cx="4977352" cy="3889941"/>
        </p:xfrm>
        <a:graphic>
          <a:graphicData uri="http://schemas.openxmlformats.org/drawingml/2006/table">
            <a:tbl>
              <a:tblPr firstRow="1" bandRow="1">
                <a:tableStyleId>{5C22544A-7EE6-4342-B048-85BDC9FD1C3A}</a:tableStyleId>
              </a:tblPr>
              <a:tblGrid>
                <a:gridCol w="1374277">
                  <a:extLst>
                    <a:ext uri="{9D8B030D-6E8A-4147-A177-3AD203B41FA5}">
                      <a16:colId xmlns:a16="http://schemas.microsoft.com/office/drawing/2014/main" val="20000"/>
                    </a:ext>
                  </a:extLst>
                </a:gridCol>
                <a:gridCol w="3603075">
                  <a:extLst>
                    <a:ext uri="{9D8B030D-6E8A-4147-A177-3AD203B41FA5}">
                      <a16:colId xmlns:a16="http://schemas.microsoft.com/office/drawing/2014/main" val="20001"/>
                    </a:ext>
                  </a:extLst>
                </a:gridCol>
              </a:tblGrid>
              <a:tr h="463239">
                <a:tc>
                  <a:txBody>
                    <a:bodyPr/>
                    <a:lstStyle/>
                    <a:p>
                      <a:r>
                        <a:rPr lang="en-US" sz="1500" dirty="0"/>
                        <a:t>Password</a:t>
                      </a:r>
                    </a:p>
                  </a:txBody>
                  <a:tcPr marL="114018" marR="114018" marT="57020" marB="57020"/>
                </a:tc>
                <a:tc>
                  <a:txBody>
                    <a:bodyPr/>
                    <a:lstStyle/>
                    <a:p>
                      <a:r>
                        <a:rPr lang="en-US" sz="1500" dirty="0"/>
                        <a:t>MD5</a:t>
                      </a:r>
                      <a:r>
                        <a:rPr lang="en-US" sz="1500" baseline="0" dirty="0"/>
                        <a:t> Hash (in Hex)</a:t>
                      </a:r>
                      <a:endParaRPr lang="en-US" sz="1500" dirty="0"/>
                    </a:p>
                  </a:txBody>
                  <a:tcPr marL="114018" marR="114018" marT="57020" marB="57020"/>
                </a:tc>
                <a:extLst>
                  <a:ext uri="{0D108BD9-81ED-4DB2-BD59-A6C34878D82A}">
                    <a16:rowId xmlns:a16="http://schemas.microsoft.com/office/drawing/2014/main" val="10000"/>
                  </a:ext>
                </a:extLst>
              </a:tr>
              <a:tr h="571117">
                <a:tc>
                  <a:txBody>
                    <a:bodyPr/>
                    <a:lstStyle/>
                    <a:p>
                      <a:r>
                        <a:rPr lang="en-US" sz="1500" dirty="0" err="1"/>
                        <a:t>aaaa</a:t>
                      </a:r>
                      <a:endParaRPr lang="en-US" sz="1500" dirty="0"/>
                    </a:p>
                  </a:txBody>
                  <a:tcPr marL="114018" marR="114018" marT="57020" marB="57020"/>
                </a:tc>
                <a:tc>
                  <a:txBody>
                    <a:bodyPr/>
                    <a:lstStyle/>
                    <a:p>
                      <a:r>
                        <a:rPr lang="en-US" sz="1500" b="0" dirty="0"/>
                        <a:t>74b87337454200d4d33f80c4663dc5e5</a:t>
                      </a:r>
                    </a:p>
                  </a:txBody>
                  <a:tcPr marL="114018" marR="114018" marT="57020" marB="57020"/>
                </a:tc>
                <a:extLst>
                  <a:ext uri="{0D108BD9-81ED-4DB2-BD59-A6C34878D82A}">
                    <a16:rowId xmlns:a16="http://schemas.microsoft.com/office/drawing/2014/main" val="10001"/>
                  </a:ext>
                </a:extLst>
              </a:tr>
              <a:tr h="571117">
                <a:tc>
                  <a:txBody>
                    <a:bodyPr/>
                    <a:lstStyle/>
                    <a:p>
                      <a:r>
                        <a:rPr lang="en-US" sz="1500" dirty="0" err="1"/>
                        <a:t>aaab</a:t>
                      </a:r>
                      <a:endParaRPr lang="en-US" sz="1500" dirty="0"/>
                    </a:p>
                  </a:txBody>
                  <a:tcPr marL="114018" marR="114018" marT="57020" marB="57020"/>
                </a:tc>
                <a:tc>
                  <a:txBody>
                    <a:bodyPr/>
                    <a:lstStyle/>
                    <a:p>
                      <a:r>
                        <a:rPr lang="en-US" sz="1500" dirty="0"/>
                        <a:t>4c189b020ceb022e0ecc42482802e2b8</a:t>
                      </a:r>
                    </a:p>
                  </a:txBody>
                  <a:tcPr marL="114018" marR="114018" marT="57020" marB="57020"/>
                </a:tc>
                <a:extLst>
                  <a:ext uri="{0D108BD9-81ED-4DB2-BD59-A6C34878D82A}">
                    <a16:rowId xmlns:a16="http://schemas.microsoft.com/office/drawing/2014/main" val="10002"/>
                  </a:ext>
                </a:extLst>
              </a:tr>
              <a:tr h="571117">
                <a:tc>
                  <a:txBody>
                    <a:bodyPr/>
                    <a:lstStyle/>
                    <a:p>
                      <a:r>
                        <a:rPr lang="en-US" sz="1500" dirty="0" err="1"/>
                        <a:t>aaac</a:t>
                      </a:r>
                      <a:endParaRPr lang="en-US" sz="1500" dirty="0"/>
                    </a:p>
                  </a:txBody>
                  <a:tcPr marL="114018" marR="114018" marT="57020" marB="57020"/>
                </a:tc>
                <a:tc>
                  <a:txBody>
                    <a:bodyPr/>
                    <a:lstStyle/>
                    <a:p>
                      <a:r>
                        <a:rPr lang="en-US" sz="1500" dirty="0"/>
                        <a:t>3963a2ba65ac8eb1c6e2140460031925</a:t>
                      </a:r>
                    </a:p>
                  </a:txBody>
                  <a:tcPr marL="114018" marR="114018" marT="57020" marB="57020"/>
                </a:tc>
                <a:extLst>
                  <a:ext uri="{0D108BD9-81ED-4DB2-BD59-A6C34878D82A}">
                    <a16:rowId xmlns:a16="http://schemas.microsoft.com/office/drawing/2014/main" val="10003"/>
                  </a:ext>
                </a:extLst>
              </a:tr>
              <a:tr h="571117">
                <a:tc>
                  <a:txBody>
                    <a:bodyPr/>
                    <a:lstStyle/>
                    <a:p>
                      <a:r>
                        <a:rPr lang="en-US" sz="1500" dirty="0"/>
                        <a:t>aaa1</a:t>
                      </a:r>
                    </a:p>
                  </a:txBody>
                  <a:tcPr marL="114018" marR="114018" marT="57020" marB="57020"/>
                </a:tc>
                <a:tc>
                  <a:txBody>
                    <a:bodyPr/>
                    <a:lstStyle/>
                    <a:p>
                      <a:r>
                        <a:rPr lang="en-US" sz="1500" dirty="0"/>
                        <a:t>39dc4f1ee693e5adabddd872247e451f</a:t>
                      </a:r>
                    </a:p>
                  </a:txBody>
                  <a:tcPr marL="114018" marR="114018" marT="57020" marB="57020"/>
                </a:tc>
                <a:extLst>
                  <a:ext uri="{0D108BD9-81ED-4DB2-BD59-A6C34878D82A}">
                    <a16:rowId xmlns:a16="http://schemas.microsoft.com/office/drawing/2014/main" val="10004"/>
                  </a:ext>
                </a:extLst>
              </a:tr>
              <a:tr h="571117">
                <a:tc>
                  <a:txBody>
                    <a:bodyPr/>
                    <a:lstStyle/>
                    <a:p>
                      <a:r>
                        <a:rPr lang="en-US" sz="1500" dirty="0"/>
                        <a:t>aaa2</a:t>
                      </a:r>
                    </a:p>
                  </a:txBody>
                  <a:tcPr marL="114018" marR="114018" marT="57020" marB="57020"/>
                </a:tc>
                <a:tc>
                  <a:txBody>
                    <a:bodyPr/>
                    <a:lstStyle/>
                    <a:p>
                      <a:r>
                        <a:rPr lang="en-US" sz="1500" dirty="0"/>
                        <a:t>0ad346c93c16e85e2cb117ff1fcfada3</a:t>
                      </a:r>
                    </a:p>
                  </a:txBody>
                  <a:tcPr marL="114018" marR="114018" marT="57020" marB="57020"/>
                </a:tc>
                <a:extLst>
                  <a:ext uri="{0D108BD9-81ED-4DB2-BD59-A6C34878D82A}">
                    <a16:rowId xmlns:a16="http://schemas.microsoft.com/office/drawing/2014/main" val="10005"/>
                  </a:ext>
                </a:extLst>
              </a:tr>
              <a:tr h="571117">
                <a:tc>
                  <a:txBody>
                    <a:bodyPr/>
                    <a:lstStyle/>
                    <a:p>
                      <a:r>
                        <a:rPr lang="en-US" sz="1500" dirty="0"/>
                        <a:t>aaa4</a:t>
                      </a:r>
                    </a:p>
                  </a:txBody>
                  <a:tcPr marL="114018" marR="114018" marT="57020" marB="57020"/>
                </a:tc>
                <a:tc>
                  <a:txBody>
                    <a:bodyPr/>
                    <a:lstStyle/>
                    <a:p>
                      <a:r>
                        <a:rPr lang="en-US" sz="1500" dirty="0"/>
                        <a:t>ee93fca7c150d9c548aff721c87d0986</a:t>
                      </a:r>
                    </a:p>
                  </a:txBody>
                  <a:tcPr marL="114018" marR="114018" marT="57020" marB="57020"/>
                </a:tc>
                <a:extLst>
                  <a:ext uri="{0D108BD9-81ED-4DB2-BD59-A6C34878D82A}">
                    <a16:rowId xmlns:a16="http://schemas.microsoft.com/office/drawing/2014/main" val="10006"/>
                  </a:ext>
                </a:extLst>
              </a:tr>
            </a:tbl>
          </a:graphicData>
        </a:graphic>
      </p:graphicFrame>
      <p:sp>
        <p:nvSpPr>
          <p:cNvPr id="64541" name="Slide Number Placeholder 3">
            <a:extLst>
              <a:ext uri="{FF2B5EF4-FFF2-40B4-BE49-F238E27FC236}">
                <a16:creationId xmlns:a16="http://schemas.microsoft.com/office/drawing/2014/main" id="{10F6A986-3E31-446A-B5AD-80894DFB13C4}"/>
              </a:ext>
            </a:extLst>
          </p:cNvPr>
          <p:cNvSpPr>
            <a:spLocks noGrp="1"/>
          </p:cNvSpPr>
          <p:nvPr>
            <p:ph type="sldNum" sz="quarter" idx="11"/>
          </p:nvPr>
        </p:nvSpPr>
        <p:spPr>
          <a:xfrm>
            <a:off x="1524000" y="0"/>
            <a:ext cx="0" cy="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fld id="{9B35E6F0-039A-4A1B-A6DC-DC712D5E7D0B}" type="slidenum">
              <a:rPr lang="en-US" altLang="en-US"/>
              <a:pPr algn="ctr"/>
              <a:t>29</a:t>
            </a:fld>
            <a:endParaRPr lang="en-US" altLang="en-US"/>
          </a:p>
        </p:txBody>
      </p:sp>
      <p:graphicFrame>
        <p:nvGraphicFramePr>
          <p:cNvPr id="6" name="Content Placeholder 4">
            <a:extLst>
              <a:ext uri="{FF2B5EF4-FFF2-40B4-BE49-F238E27FC236}">
                <a16:creationId xmlns:a16="http://schemas.microsoft.com/office/drawing/2014/main" id="{D806D86B-A46D-4488-92E2-0152EE62FD02}"/>
              </a:ext>
            </a:extLst>
          </p:cNvPr>
          <p:cNvGraphicFramePr>
            <a:graphicFrameLocks/>
          </p:cNvGraphicFramePr>
          <p:nvPr>
            <p:extLst>
              <p:ext uri="{D42A27DB-BD31-4B8C-83A1-F6EECF244321}">
                <p14:modId xmlns:p14="http://schemas.microsoft.com/office/powerpoint/2010/main" val="1689530939"/>
              </p:ext>
            </p:extLst>
          </p:nvPr>
        </p:nvGraphicFramePr>
        <p:xfrm>
          <a:off x="6364432" y="1728336"/>
          <a:ext cx="5155122" cy="3889942"/>
        </p:xfrm>
        <a:graphic>
          <a:graphicData uri="http://schemas.openxmlformats.org/drawingml/2006/table">
            <a:tbl>
              <a:tblPr firstRow="1" bandRow="1">
                <a:tableStyleId>{5C22544A-7EE6-4342-B048-85BDC9FD1C3A}</a:tableStyleId>
              </a:tblPr>
              <a:tblGrid>
                <a:gridCol w="1403254">
                  <a:extLst>
                    <a:ext uri="{9D8B030D-6E8A-4147-A177-3AD203B41FA5}">
                      <a16:colId xmlns:a16="http://schemas.microsoft.com/office/drawing/2014/main" val="20000"/>
                    </a:ext>
                  </a:extLst>
                </a:gridCol>
                <a:gridCol w="3751868">
                  <a:extLst>
                    <a:ext uri="{9D8B030D-6E8A-4147-A177-3AD203B41FA5}">
                      <a16:colId xmlns:a16="http://schemas.microsoft.com/office/drawing/2014/main" val="20001"/>
                    </a:ext>
                  </a:extLst>
                </a:gridCol>
              </a:tblGrid>
              <a:tr h="463240">
                <a:tc>
                  <a:txBody>
                    <a:bodyPr/>
                    <a:lstStyle/>
                    <a:p>
                      <a:r>
                        <a:rPr lang="en-US" sz="1500" dirty="0"/>
                        <a:t>Password</a:t>
                      </a:r>
                    </a:p>
                  </a:txBody>
                  <a:tcPr marL="114200" marR="114200" marT="57111" marB="57111"/>
                </a:tc>
                <a:tc>
                  <a:txBody>
                    <a:bodyPr/>
                    <a:lstStyle/>
                    <a:p>
                      <a:r>
                        <a:rPr lang="en-US" sz="1500" dirty="0"/>
                        <a:t>MD5</a:t>
                      </a:r>
                      <a:r>
                        <a:rPr lang="en-US" sz="1500" baseline="0" dirty="0"/>
                        <a:t> Hash (in Hex)</a:t>
                      </a:r>
                      <a:endParaRPr lang="en-US" sz="1500" dirty="0"/>
                    </a:p>
                  </a:txBody>
                  <a:tcPr marL="114200" marR="114200" marT="57111" marB="57111"/>
                </a:tc>
                <a:extLst>
                  <a:ext uri="{0D108BD9-81ED-4DB2-BD59-A6C34878D82A}">
                    <a16:rowId xmlns:a16="http://schemas.microsoft.com/office/drawing/2014/main" val="10000"/>
                  </a:ext>
                </a:extLst>
              </a:tr>
              <a:tr h="571117">
                <a:tc>
                  <a:txBody>
                    <a:bodyPr/>
                    <a:lstStyle/>
                    <a:p>
                      <a:r>
                        <a:rPr lang="en-US" sz="1500" dirty="0" err="1"/>
                        <a:t>aaaaa</a:t>
                      </a:r>
                      <a:endParaRPr lang="en-US" sz="1500" dirty="0"/>
                    </a:p>
                  </a:txBody>
                  <a:tcPr marL="114200" marR="114200" marT="57111" marB="57111"/>
                </a:tc>
                <a:tc>
                  <a:txBody>
                    <a:bodyPr/>
                    <a:lstStyle/>
                    <a:p>
                      <a:r>
                        <a:rPr lang="en-US" sz="1500" b="0" dirty="0"/>
                        <a:t>594f803b380a41396ed63dca39503542</a:t>
                      </a:r>
                    </a:p>
                  </a:txBody>
                  <a:tcPr marL="114200" marR="114200" marT="57111" marB="57111"/>
                </a:tc>
                <a:extLst>
                  <a:ext uri="{0D108BD9-81ED-4DB2-BD59-A6C34878D82A}">
                    <a16:rowId xmlns:a16="http://schemas.microsoft.com/office/drawing/2014/main" val="10001"/>
                  </a:ext>
                </a:extLst>
              </a:tr>
              <a:tr h="571117">
                <a:tc>
                  <a:txBody>
                    <a:bodyPr/>
                    <a:lstStyle/>
                    <a:p>
                      <a:r>
                        <a:rPr lang="en-US" sz="1500" dirty="0" err="1"/>
                        <a:t>aaabb</a:t>
                      </a:r>
                      <a:r>
                        <a:rPr lang="en-US" sz="1500" dirty="0"/>
                        <a:t> </a:t>
                      </a:r>
                    </a:p>
                  </a:txBody>
                  <a:tcPr marL="114200" marR="114200" marT="57111" marB="57111"/>
                </a:tc>
                <a:tc>
                  <a:txBody>
                    <a:bodyPr/>
                    <a:lstStyle/>
                    <a:p>
                      <a:r>
                        <a:rPr lang="en-US" sz="1500" dirty="0"/>
                        <a:t>120858a7016efcfab66967b834e9153c</a:t>
                      </a:r>
                    </a:p>
                  </a:txBody>
                  <a:tcPr marL="114200" marR="114200" marT="57111" marB="57111"/>
                </a:tc>
                <a:extLst>
                  <a:ext uri="{0D108BD9-81ED-4DB2-BD59-A6C34878D82A}">
                    <a16:rowId xmlns:a16="http://schemas.microsoft.com/office/drawing/2014/main" val="10002"/>
                  </a:ext>
                </a:extLst>
              </a:tr>
              <a:tr h="571117">
                <a:tc>
                  <a:txBody>
                    <a:bodyPr/>
                    <a:lstStyle/>
                    <a:p>
                      <a:r>
                        <a:rPr lang="en-US" sz="1500" dirty="0" err="1"/>
                        <a:t>aaacc</a:t>
                      </a:r>
                      <a:endParaRPr lang="en-US" sz="1500" dirty="0"/>
                    </a:p>
                  </a:txBody>
                  <a:tcPr marL="114200" marR="114200" marT="57111" marB="57111"/>
                </a:tc>
                <a:tc>
                  <a:txBody>
                    <a:bodyPr/>
                    <a:lstStyle/>
                    <a:p>
                      <a:r>
                        <a:rPr lang="en-US" sz="1500" dirty="0"/>
                        <a:t>ee43671d755ac457cfe6e32d1894788e</a:t>
                      </a:r>
                    </a:p>
                  </a:txBody>
                  <a:tcPr marL="114200" marR="114200" marT="57111" marB="57111"/>
                </a:tc>
                <a:extLst>
                  <a:ext uri="{0D108BD9-81ED-4DB2-BD59-A6C34878D82A}">
                    <a16:rowId xmlns:a16="http://schemas.microsoft.com/office/drawing/2014/main" val="10003"/>
                  </a:ext>
                </a:extLst>
              </a:tr>
              <a:tr h="571117">
                <a:tc>
                  <a:txBody>
                    <a:bodyPr/>
                    <a:lstStyle/>
                    <a:p>
                      <a:r>
                        <a:rPr lang="en-US" sz="1500" dirty="0"/>
                        <a:t>aaa1a</a:t>
                      </a:r>
                    </a:p>
                  </a:txBody>
                  <a:tcPr marL="114200" marR="114200" marT="57111" marB="57111"/>
                </a:tc>
                <a:tc>
                  <a:txBody>
                    <a:bodyPr/>
                    <a:lstStyle/>
                    <a:p>
                      <a:r>
                        <a:rPr lang="en-US" sz="1500" dirty="0"/>
                        <a:t>5bbac29650eb36b4de16885c190a9fa3</a:t>
                      </a:r>
                    </a:p>
                  </a:txBody>
                  <a:tcPr marL="114200" marR="114200" marT="57111" marB="57111"/>
                </a:tc>
                <a:extLst>
                  <a:ext uri="{0D108BD9-81ED-4DB2-BD59-A6C34878D82A}">
                    <a16:rowId xmlns:a16="http://schemas.microsoft.com/office/drawing/2014/main" val="10004"/>
                  </a:ext>
                </a:extLst>
              </a:tr>
              <a:tr h="571117">
                <a:tc>
                  <a:txBody>
                    <a:bodyPr/>
                    <a:lstStyle/>
                    <a:p>
                      <a:r>
                        <a:rPr lang="en-US" sz="1500" dirty="0"/>
                        <a:t>aaa2a</a:t>
                      </a:r>
                    </a:p>
                  </a:txBody>
                  <a:tcPr marL="114200" marR="114200" marT="57111" marB="57111"/>
                </a:tc>
                <a:tc>
                  <a:txBody>
                    <a:bodyPr/>
                    <a:lstStyle/>
                    <a:p>
                      <a:r>
                        <a:rPr lang="en-US" sz="1500" b="0" dirty="0"/>
                        <a:t>597f0ce6d11567cc691b3f5df35594cb</a:t>
                      </a:r>
                    </a:p>
                  </a:txBody>
                  <a:tcPr marL="114200" marR="114200" marT="57111" marB="57111"/>
                </a:tc>
                <a:extLst>
                  <a:ext uri="{0D108BD9-81ED-4DB2-BD59-A6C34878D82A}">
                    <a16:rowId xmlns:a16="http://schemas.microsoft.com/office/drawing/2014/main" val="10005"/>
                  </a:ext>
                </a:extLst>
              </a:tr>
              <a:tr h="571117">
                <a:tc>
                  <a:txBody>
                    <a:bodyPr/>
                    <a:lstStyle/>
                    <a:p>
                      <a:r>
                        <a:rPr lang="en-US" sz="1500" dirty="0"/>
                        <a:t>aaa4a</a:t>
                      </a:r>
                    </a:p>
                  </a:txBody>
                  <a:tcPr marL="114200" marR="114200" marT="57111" marB="57111"/>
                </a:tc>
                <a:tc>
                  <a:txBody>
                    <a:bodyPr/>
                    <a:lstStyle/>
                    <a:p>
                      <a:r>
                        <a:rPr lang="en-US" sz="1500" dirty="0"/>
                        <a:t>4305dc076b3ba2bf8d55524cddf5a72d</a:t>
                      </a:r>
                    </a:p>
                  </a:txBody>
                  <a:tcPr marL="114200" marR="114200" marT="57111" marB="57111"/>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1">
            <a:extLst>
              <a:ext uri="{FF2B5EF4-FFF2-40B4-BE49-F238E27FC236}">
                <a16:creationId xmlns:a16="http://schemas.microsoft.com/office/drawing/2014/main" id="{965EC6CA-7BA0-4C93-B8C5-F5ED0A17670F}"/>
              </a:ext>
            </a:extLst>
          </p:cNvPr>
          <p:cNvSpPr>
            <a:spLocks noGrp="1"/>
          </p:cNvSpPr>
          <p:nvPr>
            <p:ph type="title"/>
          </p:nvPr>
        </p:nvSpPr>
        <p:spPr/>
        <p:txBody>
          <a:bodyPr/>
          <a:lstStyle/>
          <a:p>
            <a:pPr eaLnBrk="1" hangingPunct="1"/>
            <a:r>
              <a:rPr lang="en-US" altLang="en-US">
                <a:ea typeface="MS PGothic" panose="020B0600070205080204" pitchFamily="34" charset="-128"/>
              </a:rPr>
              <a:t>Hash - Salt</a:t>
            </a:r>
          </a:p>
        </p:txBody>
      </p:sp>
      <p:sp>
        <p:nvSpPr>
          <p:cNvPr id="49155" name="Content Placeholder 2">
            <a:extLst>
              <a:ext uri="{FF2B5EF4-FFF2-40B4-BE49-F238E27FC236}">
                <a16:creationId xmlns:a16="http://schemas.microsoft.com/office/drawing/2014/main" id="{F2F1CDD5-12E0-41EE-929C-CB3B9A26BA4C}"/>
              </a:ext>
            </a:extLst>
          </p:cNvPr>
          <p:cNvSpPr>
            <a:spLocks noGrp="1"/>
          </p:cNvSpPr>
          <p:nvPr>
            <p:ph idx="1"/>
          </p:nvPr>
        </p:nvSpPr>
        <p:spPr/>
        <p:txBody>
          <a:bodyPr rtlCol="0">
            <a:normAutofit/>
          </a:bodyPr>
          <a:lstStyle/>
          <a:p>
            <a:pPr>
              <a:defRPr/>
            </a:pPr>
            <a:r>
              <a:rPr lang="en-US" dirty="0">
                <a:ea typeface="ＭＳ Ｐゴシック" panose="020B0600070205080204" pitchFamily="34" charset="-128"/>
              </a:rPr>
              <a:t>Random bits added to further secure encryption or hashing. Most often encountered with hashing, to prevent Rainbow Table attacks.</a:t>
            </a:r>
          </a:p>
          <a:p>
            <a:pPr>
              <a:defRPr/>
            </a:pPr>
            <a:r>
              <a:rPr lang="en-US" dirty="0">
                <a:ea typeface="ＭＳ Ｐゴシック" panose="020B0600070205080204" pitchFamily="34" charset="-128"/>
              </a:rPr>
              <a:t>The ”salt” is added to a password each time</a:t>
            </a:r>
          </a:p>
          <a:p>
            <a:pPr>
              <a:defRPr/>
            </a:pPr>
            <a:r>
              <a:rPr lang="en-US" dirty="0">
                <a:ea typeface="ＭＳ Ｐゴシック" panose="020B0600070205080204" pitchFamily="34" charset="-128"/>
              </a:rPr>
              <a:t>The salt is unique to each user and must be tracked with their hashed password.</a:t>
            </a:r>
          </a:p>
          <a:p>
            <a:pPr marL="0" indent="0">
              <a:buNone/>
              <a:defRPr/>
            </a:pPr>
            <a:endParaRPr lang="en-US" dirty="0"/>
          </a:p>
        </p:txBody>
      </p:sp>
      <p:pic>
        <p:nvPicPr>
          <p:cNvPr id="8194" name="Picture 2" descr="Salted Password Hashing">
            <a:extLst>
              <a:ext uri="{FF2B5EF4-FFF2-40B4-BE49-F238E27FC236}">
                <a16:creationId xmlns:a16="http://schemas.microsoft.com/office/drawing/2014/main" id="{840A6F40-A813-197D-BC08-4EE31A0F2D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1610" y="3808015"/>
            <a:ext cx="9105900" cy="31369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Content Placeholder 1">
            <a:extLst>
              <a:ext uri="{FF2B5EF4-FFF2-40B4-BE49-F238E27FC236}">
                <a16:creationId xmlns:a16="http://schemas.microsoft.com/office/drawing/2014/main" id="{60FF7AB0-C862-457D-8A99-FC2A80BD12CF}"/>
              </a:ext>
            </a:extLst>
          </p:cNvPr>
          <p:cNvSpPr>
            <a:spLocks noGrp="1"/>
          </p:cNvSpPr>
          <p:nvPr>
            <p:ph idx="1"/>
          </p:nvPr>
        </p:nvSpPr>
        <p:spPr/>
        <p:txBody>
          <a:bodyPr/>
          <a:lstStyle/>
          <a:p>
            <a:r>
              <a:rPr lang="en-US" altLang="en-US" dirty="0"/>
              <a:t>The ancient Chinese wrapped notes in wax and swallowed them for transport.</a:t>
            </a:r>
          </a:p>
          <a:p>
            <a:r>
              <a:rPr lang="en-US" altLang="en-US" dirty="0"/>
              <a:t>In ancient Greece, a messenger’s head might be shaved, a message written on his head, then his hair was allowed to grow back.</a:t>
            </a:r>
          </a:p>
          <a:p>
            <a:r>
              <a:rPr lang="en-US" altLang="en-US" dirty="0"/>
              <a:t>In 1518 Johannes </a:t>
            </a:r>
            <a:r>
              <a:rPr lang="en-US" altLang="en-US" dirty="0" err="1"/>
              <a:t>Trithmeus</a:t>
            </a:r>
            <a:r>
              <a:rPr lang="en-US" altLang="en-US" dirty="0"/>
              <a:t> wrote a book on cryptography and described a technique where a message was hidden by having each letter taken as a word from a specific column.</a:t>
            </a:r>
          </a:p>
        </p:txBody>
      </p:sp>
      <p:sp>
        <p:nvSpPr>
          <p:cNvPr id="66563" name="Title 2">
            <a:extLst>
              <a:ext uri="{FF2B5EF4-FFF2-40B4-BE49-F238E27FC236}">
                <a16:creationId xmlns:a16="http://schemas.microsoft.com/office/drawing/2014/main" id="{AD43936A-A7E2-4D3D-8AE2-1F2EE3436F71}"/>
              </a:ext>
            </a:extLst>
          </p:cNvPr>
          <p:cNvSpPr>
            <a:spLocks noGrp="1"/>
          </p:cNvSpPr>
          <p:nvPr>
            <p:ph type="title"/>
          </p:nvPr>
        </p:nvSpPr>
        <p:spPr/>
        <p:txBody>
          <a:bodyPr/>
          <a:lstStyle/>
          <a:p>
            <a:r>
              <a:rPr lang="en-US" altLang="en-US"/>
              <a:t>Historical Steganography</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Content Placeholder 1">
            <a:extLst>
              <a:ext uri="{FF2B5EF4-FFF2-40B4-BE49-F238E27FC236}">
                <a16:creationId xmlns:a16="http://schemas.microsoft.com/office/drawing/2014/main" id="{E59DA111-17A1-497D-BF9F-5BD283B0C4E1}"/>
              </a:ext>
            </a:extLst>
          </p:cNvPr>
          <p:cNvSpPr>
            <a:spLocks noGrp="1"/>
          </p:cNvSpPr>
          <p:nvPr>
            <p:ph idx="1"/>
          </p:nvPr>
        </p:nvSpPr>
        <p:spPr/>
        <p:txBody>
          <a:bodyPr/>
          <a:lstStyle/>
          <a:p>
            <a:r>
              <a:rPr lang="en-US" altLang="en-US"/>
              <a:t>During WW II the French Resistance sent messages written on the backs of couriers using invisible ink</a:t>
            </a:r>
          </a:p>
          <a:p>
            <a:r>
              <a:rPr lang="en-US" altLang="en-US"/>
              <a:t>Microdots are images/undeveloped film the size of a typewriter period, embedded on an innocuous documents. These were said to be used by spy's during the Cold War.</a:t>
            </a:r>
          </a:p>
        </p:txBody>
      </p:sp>
      <p:sp>
        <p:nvSpPr>
          <p:cNvPr id="67587" name="Title 2">
            <a:extLst>
              <a:ext uri="{FF2B5EF4-FFF2-40B4-BE49-F238E27FC236}">
                <a16:creationId xmlns:a16="http://schemas.microsoft.com/office/drawing/2014/main" id="{29920B21-A6C7-486F-8B81-A289139CF3AA}"/>
              </a:ext>
            </a:extLst>
          </p:cNvPr>
          <p:cNvSpPr>
            <a:spLocks noGrp="1"/>
          </p:cNvSpPr>
          <p:nvPr>
            <p:ph type="title"/>
          </p:nvPr>
        </p:nvSpPr>
        <p:spPr/>
        <p:txBody>
          <a:bodyPr/>
          <a:lstStyle/>
          <a:p>
            <a:r>
              <a:rPr lang="en-US" altLang="en-US"/>
              <a:t>Historical Steganography - Continued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Content Placeholder 2">
            <a:extLst>
              <a:ext uri="{FF2B5EF4-FFF2-40B4-BE49-F238E27FC236}">
                <a16:creationId xmlns:a16="http://schemas.microsoft.com/office/drawing/2014/main" id="{D4072E51-A49C-4439-B5B7-E4C0B92A0946}"/>
              </a:ext>
            </a:extLst>
          </p:cNvPr>
          <p:cNvSpPr>
            <a:spLocks noGrp="1"/>
          </p:cNvSpPr>
          <p:nvPr>
            <p:ph idx="1"/>
          </p:nvPr>
        </p:nvSpPr>
        <p:spPr>
          <a:xfrm>
            <a:off x="595459" y="1322895"/>
            <a:ext cx="10179377" cy="5077905"/>
          </a:xfrm>
        </p:spPr>
        <p:txBody>
          <a:bodyPr/>
          <a:lstStyle/>
          <a:p>
            <a:r>
              <a:rPr lang="en-US" altLang="en-US" dirty="0"/>
              <a:t>Payload</a:t>
            </a:r>
            <a:r>
              <a:rPr lang="en-US" altLang="en-US" i="1" dirty="0"/>
              <a:t> </a:t>
            </a:r>
            <a:r>
              <a:rPr lang="en-US" altLang="en-US" dirty="0"/>
              <a:t>is the data to be covertly communicated.</a:t>
            </a:r>
          </a:p>
          <a:p>
            <a:r>
              <a:rPr lang="en-US" altLang="en-US" dirty="0"/>
              <a:t>The carrier is the signal, stream, or data file into which the payload is hidden. This is also sometimes called the cover object.</a:t>
            </a:r>
          </a:p>
          <a:p>
            <a:r>
              <a:rPr lang="en-US" altLang="en-US" dirty="0"/>
              <a:t>The channel is the type of medium used.</a:t>
            </a:r>
          </a:p>
          <a:p>
            <a:endParaRPr lang="en-US" altLang="en-US" dirty="0"/>
          </a:p>
        </p:txBody>
      </p:sp>
      <p:sp>
        <p:nvSpPr>
          <p:cNvPr id="68611" name="Title 1">
            <a:extLst>
              <a:ext uri="{FF2B5EF4-FFF2-40B4-BE49-F238E27FC236}">
                <a16:creationId xmlns:a16="http://schemas.microsoft.com/office/drawing/2014/main" id="{56242AA7-80F8-4011-A0F7-435E626CA8F9}"/>
              </a:ext>
            </a:extLst>
          </p:cNvPr>
          <p:cNvSpPr>
            <a:spLocks noGrp="1"/>
          </p:cNvSpPr>
          <p:nvPr>
            <p:ph type="title"/>
          </p:nvPr>
        </p:nvSpPr>
        <p:spPr/>
        <p:txBody>
          <a:bodyPr/>
          <a:lstStyle/>
          <a:p>
            <a:r>
              <a:rPr lang="en-US" altLang="en-US"/>
              <a:t>Steganography Terms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4CF62-D0FD-4013-B93F-19FC4BC1FB08}"/>
              </a:ext>
            </a:extLst>
          </p:cNvPr>
          <p:cNvSpPr>
            <a:spLocks noGrp="1"/>
          </p:cNvSpPr>
          <p:nvPr>
            <p:ph type="title"/>
          </p:nvPr>
        </p:nvSpPr>
        <p:spPr/>
        <p:txBody>
          <a:bodyPr/>
          <a:lstStyle/>
          <a:p>
            <a:r>
              <a:rPr lang="en-US" dirty="0"/>
              <a:t>Steganography Example</a:t>
            </a:r>
          </a:p>
        </p:txBody>
      </p:sp>
      <p:sp>
        <p:nvSpPr>
          <p:cNvPr id="3" name="Content Placeholder 2">
            <a:extLst>
              <a:ext uri="{FF2B5EF4-FFF2-40B4-BE49-F238E27FC236}">
                <a16:creationId xmlns:a16="http://schemas.microsoft.com/office/drawing/2014/main" id="{3EBE4EA9-3D76-44FC-B179-7AEF1F07BBFC}"/>
              </a:ext>
            </a:extLst>
          </p:cNvPr>
          <p:cNvSpPr>
            <a:spLocks noGrp="1"/>
          </p:cNvSpPr>
          <p:nvPr>
            <p:ph idx="1"/>
          </p:nvPr>
        </p:nvSpPr>
        <p:spPr>
          <a:xfrm>
            <a:off x="838200" y="1439067"/>
            <a:ext cx="10515600" cy="4737896"/>
          </a:xfrm>
        </p:spPr>
        <p:txBody>
          <a:bodyPr/>
          <a:lstStyle/>
          <a:p>
            <a:r>
              <a:rPr lang="en-US" dirty="0"/>
              <a:t>A message like “attack” can be converted into binary:</a:t>
            </a:r>
          </a:p>
          <a:p>
            <a:pPr lvl="1"/>
            <a:r>
              <a:rPr lang="en-US" dirty="0"/>
              <a:t>01100001 01110100 01110100 01100001 01100011 01101011</a:t>
            </a:r>
          </a:p>
          <a:p>
            <a:r>
              <a:rPr lang="en-US" dirty="0"/>
              <a:t>An image has pixels with Red, Green, Blue channels</a:t>
            </a:r>
          </a:p>
          <a:p>
            <a:r>
              <a:rPr lang="en-US" dirty="0"/>
              <a:t>The text can be hidden in the Least Significant Bit (LSB) of the RGB channels of the pixels.</a:t>
            </a:r>
          </a:p>
          <a:p>
            <a:r>
              <a:rPr lang="en-US" dirty="0"/>
              <a:t>The image will look the same.</a:t>
            </a:r>
          </a:p>
          <a:p>
            <a:endParaRPr lang="en-US" dirty="0"/>
          </a:p>
        </p:txBody>
      </p:sp>
      <p:sp>
        <p:nvSpPr>
          <p:cNvPr id="4" name="Slide Number Placeholder 3">
            <a:extLst>
              <a:ext uri="{FF2B5EF4-FFF2-40B4-BE49-F238E27FC236}">
                <a16:creationId xmlns:a16="http://schemas.microsoft.com/office/drawing/2014/main" id="{22B811BA-1DBF-46B3-B238-A9F566C4932A}"/>
              </a:ext>
            </a:extLst>
          </p:cNvPr>
          <p:cNvSpPr>
            <a:spLocks noGrp="1"/>
          </p:cNvSpPr>
          <p:nvPr>
            <p:ph type="sldNum" sz="quarter" idx="12"/>
          </p:nvPr>
        </p:nvSpPr>
        <p:spPr/>
        <p:txBody>
          <a:bodyPr/>
          <a:lstStyle/>
          <a:p>
            <a:fld id="{094C11E7-507F-4422-8D09-51AE60736DD4}" type="slidenum">
              <a:rPr lang="en-US" smtClean="0"/>
              <a:t>34</a:t>
            </a:fld>
            <a:endParaRPr lang="en-US"/>
          </a:p>
        </p:txBody>
      </p:sp>
      <p:pic>
        <p:nvPicPr>
          <p:cNvPr id="3074" name="Picture 2" descr="http://datagenetics.com/blog/march12012/matrix.png">
            <a:extLst>
              <a:ext uri="{FF2B5EF4-FFF2-40B4-BE49-F238E27FC236}">
                <a16:creationId xmlns:a16="http://schemas.microsoft.com/office/drawing/2014/main" id="{D5865159-9998-4260-B9CA-55F4523BE7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53001" y="3599419"/>
            <a:ext cx="6191250" cy="2219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58834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78225-C835-4FC3-B297-20C7813FDE18}"/>
              </a:ext>
            </a:extLst>
          </p:cNvPr>
          <p:cNvSpPr>
            <a:spLocks noGrp="1"/>
          </p:cNvSpPr>
          <p:nvPr>
            <p:ph type="title"/>
          </p:nvPr>
        </p:nvSpPr>
        <p:spPr/>
        <p:txBody>
          <a:bodyPr/>
          <a:lstStyle/>
          <a:p>
            <a:r>
              <a:rPr lang="en-US" dirty="0" err="1"/>
              <a:t>Steganalysis</a:t>
            </a:r>
            <a:endParaRPr lang="en-US" dirty="0"/>
          </a:p>
        </p:txBody>
      </p:sp>
      <p:sp>
        <p:nvSpPr>
          <p:cNvPr id="3" name="Content Placeholder 2">
            <a:extLst>
              <a:ext uri="{FF2B5EF4-FFF2-40B4-BE49-F238E27FC236}">
                <a16:creationId xmlns:a16="http://schemas.microsoft.com/office/drawing/2014/main" id="{DA43ADDC-64EE-439E-964F-C36896121873}"/>
              </a:ext>
            </a:extLst>
          </p:cNvPr>
          <p:cNvSpPr>
            <a:spLocks noGrp="1"/>
          </p:cNvSpPr>
          <p:nvPr>
            <p:ph idx="1"/>
          </p:nvPr>
        </p:nvSpPr>
        <p:spPr/>
        <p:txBody>
          <a:bodyPr/>
          <a:lstStyle/>
          <a:p>
            <a:r>
              <a:rPr lang="en-US" dirty="0"/>
              <a:t>Steganography is not the same as encryption.</a:t>
            </a:r>
          </a:p>
          <a:p>
            <a:r>
              <a:rPr lang="en-US" dirty="0"/>
              <a:t>The security relies on obscurity of the technique and the image itself.</a:t>
            </a:r>
          </a:p>
          <a:p>
            <a:r>
              <a:rPr lang="en-US" dirty="0"/>
              <a:t>Hash values of images can leave a clue that to visually similar images are actually different.</a:t>
            </a:r>
          </a:p>
        </p:txBody>
      </p:sp>
      <p:sp>
        <p:nvSpPr>
          <p:cNvPr id="4" name="Slide Number Placeholder 3">
            <a:extLst>
              <a:ext uri="{FF2B5EF4-FFF2-40B4-BE49-F238E27FC236}">
                <a16:creationId xmlns:a16="http://schemas.microsoft.com/office/drawing/2014/main" id="{D1806955-2CB0-46D2-AFB4-F73D03CB0BA5}"/>
              </a:ext>
            </a:extLst>
          </p:cNvPr>
          <p:cNvSpPr>
            <a:spLocks noGrp="1"/>
          </p:cNvSpPr>
          <p:nvPr>
            <p:ph type="sldNum" sz="quarter" idx="12"/>
          </p:nvPr>
        </p:nvSpPr>
        <p:spPr/>
        <p:txBody>
          <a:bodyPr/>
          <a:lstStyle/>
          <a:p>
            <a:fld id="{094C11E7-507F-4422-8D09-51AE60736DD4}" type="slidenum">
              <a:rPr lang="en-US" smtClean="0"/>
              <a:t>35</a:t>
            </a:fld>
            <a:endParaRPr lang="en-US"/>
          </a:p>
        </p:txBody>
      </p:sp>
    </p:spTree>
    <p:extLst>
      <p:ext uri="{BB962C8B-B14F-4D97-AF65-F5344CB8AC3E}">
        <p14:creationId xmlns:p14="http://schemas.microsoft.com/office/powerpoint/2010/main" val="41753185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a:extLst>
              <a:ext uri="{FF2B5EF4-FFF2-40B4-BE49-F238E27FC236}">
                <a16:creationId xmlns:a16="http://schemas.microsoft.com/office/drawing/2014/main" id="{C8C38056-348B-4158-9556-B58166733D64}"/>
              </a:ext>
            </a:extLst>
          </p:cNvPr>
          <p:cNvSpPr>
            <a:spLocks noGrp="1" noRot="1" noChangeArrowheads="1"/>
          </p:cNvSpPr>
          <p:nvPr>
            <p:ph type="title"/>
          </p:nvPr>
        </p:nvSpPr>
        <p:spPr/>
        <p:txBody>
          <a:bodyPr/>
          <a:lstStyle/>
          <a:p>
            <a:r>
              <a:rPr lang="en-US" altLang="en-US"/>
              <a:t>Cryptanalysis</a:t>
            </a:r>
          </a:p>
        </p:txBody>
      </p:sp>
      <p:sp>
        <p:nvSpPr>
          <p:cNvPr id="70659" name="Rectangle 3">
            <a:extLst>
              <a:ext uri="{FF2B5EF4-FFF2-40B4-BE49-F238E27FC236}">
                <a16:creationId xmlns:a16="http://schemas.microsoft.com/office/drawing/2014/main" id="{A641A877-DD69-45FA-801D-01726DCE5233}"/>
              </a:ext>
            </a:extLst>
          </p:cNvPr>
          <p:cNvSpPr>
            <a:spLocks noGrp="1" noChangeArrowheads="1"/>
          </p:cNvSpPr>
          <p:nvPr>
            <p:ph type="body" idx="1"/>
          </p:nvPr>
        </p:nvSpPr>
        <p:spPr/>
        <p:txBody>
          <a:bodyPr/>
          <a:lstStyle/>
          <a:p>
            <a:r>
              <a:rPr lang="en-US" altLang="en-US"/>
              <a:t>Ciphertext Only Attack</a:t>
            </a:r>
          </a:p>
          <a:p>
            <a:r>
              <a:rPr lang="en-US" altLang="en-US"/>
              <a:t>Known plain text</a:t>
            </a:r>
          </a:p>
          <a:p>
            <a:r>
              <a:rPr lang="en-US" altLang="en-US"/>
              <a:t>Chosen plain text</a:t>
            </a:r>
          </a:p>
          <a:p>
            <a:r>
              <a:rPr lang="en-US" altLang="en-US"/>
              <a:t>Related Key</a:t>
            </a:r>
          </a:p>
        </p:txBody>
      </p:sp>
      <p:sp>
        <p:nvSpPr>
          <p:cNvPr id="70660" name="Slide Number Placeholder 1">
            <a:extLst>
              <a:ext uri="{FF2B5EF4-FFF2-40B4-BE49-F238E27FC236}">
                <a16:creationId xmlns:a16="http://schemas.microsoft.com/office/drawing/2014/main" id="{67A88A4D-7A14-4B7E-B529-AC5AA8A95998}"/>
              </a:ext>
            </a:extLst>
          </p:cNvPr>
          <p:cNvSpPr>
            <a:spLocks noGrp="1"/>
          </p:cNvSpPr>
          <p:nvPr>
            <p:ph type="sldNum" sz="quarter" idx="11"/>
          </p:nvPr>
        </p:nvSpPr>
        <p:spPr>
          <a:xfrm>
            <a:off x="1524000" y="0"/>
            <a:ext cx="0" cy="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t"/>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fld id="{CFA454F3-110D-4088-8D28-212E8C7316DB}" type="slidenum">
              <a:rPr lang="en-US" altLang="en-US"/>
              <a:pPr algn="ctr"/>
              <a:t>36</a:t>
            </a:fld>
            <a:endParaRPr lang="en-US"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Slide Number Placeholder 4">
            <a:extLst>
              <a:ext uri="{FF2B5EF4-FFF2-40B4-BE49-F238E27FC236}">
                <a16:creationId xmlns:a16="http://schemas.microsoft.com/office/drawing/2014/main" id="{98BBC8C2-6378-400D-8C37-2D840CB0B99D}"/>
              </a:ext>
            </a:extLst>
          </p:cNvPr>
          <p:cNvSpPr>
            <a:spLocks noGrp="1"/>
          </p:cNvSpPr>
          <p:nvPr>
            <p:ph type="sldNum"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65000"/>
              <a:buFont typeface="Wingdings" panose="05000000000000000000" pitchFamily="2" charset="2"/>
              <a:buChar char="n"/>
              <a:defRPr sz="3000">
                <a:solidFill>
                  <a:schemeClr val="accent1"/>
                </a:solidFill>
                <a:latin typeface="Arial" panose="020B0604020202020204" pitchFamily="34" charset="0"/>
              </a:defRPr>
            </a:lvl1pPr>
            <a:lvl2pPr marL="742950" indent="-285750">
              <a:spcBef>
                <a:spcPct val="20000"/>
              </a:spcBef>
              <a:buClr>
                <a:schemeClr val="accent2"/>
              </a:buClr>
              <a:buSzPct val="60000"/>
              <a:buFont typeface="Wingdings" panose="05000000000000000000" pitchFamily="2" charset="2"/>
              <a:buChar char="q"/>
              <a:defRPr sz="2600">
                <a:solidFill>
                  <a:schemeClr val="accent1"/>
                </a:solidFill>
                <a:latin typeface="Arial" panose="020B0604020202020204" pitchFamily="34" charset="0"/>
              </a:defRPr>
            </a:lvl2pPr>
            <a:lvl3pPr marL="1143000" indent="-228600">
              <a:spcBef>
                <a:spcPct val="20000"/>
              </a:spcBef>
              <a:buClr>
                <a:schemeClr val="accent1"/>
              </a:buClr>
              <a:buSzPct val="65000"/>
              <a:buFont typeface="Wingdings" panose="05000000000000000000" pitchFamily="2" charset="2"/>
              <a:buChar char="n"/>
              <a:defRPr sz="2200">
                <a:solidFill>
                  <a:schemeClr val="accent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q"/>
              <a:defRPr sz="2000">
                <a:solidFill>
                  <a:schemeClr val="accent1"/>
                </a:solidFill>
                <a:latin typeface="Arial" panose="020B0604020202020204" pitchFamily="34" charset="0"/>
              </a:defRPr>
            </a:lvl4pPr>
            <a:lvl5pPr marL="2057400" indent="-228600">
              <a:spcBef>
                <a:spcPct val="20000"/>
              </a:spcBef>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75000"/>
              <a:buFont typeface="Wingdings" panose="05000000000000000000" pitchFamily="2" charset="2"/>
              <a:buChar char="§"/>
              <a:defRPr sz="2000">
                <a:solidFill>
                  <a:schemeClr val="accent1"/>
                </a:solidFill>
                <a:latin typeface="Arial" panose="020B0604020202020204" pitchFamily="34" charset="0"/>
              </a:defRPr>
            </a:lvl9pPr>
          </a:lstStyle>
          <a:p>
            <a:pPr>
              <a:spcBef>
                <a:spcPct val="0"/>
              </a:spcBef>
              <a:buClrTx/>
              <a:buSzTx/>
              <a:buFontTx/>
              <a:buNone/>
            </a:pPr>
            <a:fld id="{80A45DBB-B8C3-49B4-9834-77B7EB986CF0}" type="slidenum">
              <a:rPr lang="en-US" altLang="en-US" sz="1200">
                <a:latin typeface="Garamond" panose="02020404030301010803" pitchFamily="18" charset="0"/>
              </a:rPr>
              <a:pPr>
                <a:spcBef>
                  <a:spcPct val="0"/>
                </a:spcBef>
                <a:buClrTx/>
                <a:buSzTx/>
                <a:buFontTx/>
                <a:buNone/>
              </a:pPr>
              <a:t>37</a:t>
            </a:fld>
            <a:endParaRPr lang="en-US" altLang="en-US" sz="1200">
              <a:latin typeface="Garamond" panose="02020404030301010803" pitchFamily="18" charset="0"/>
            </a:endParaRPr>
          </a:p>
        </p:txBody>
      </p:sp>
      <p:sp>
        <p:nvSpPr>
          <p:cNvPr id="71684" name="Rectangle 2">
            <a:extLst>
              <a:ext uri="{FF2B5EF4-FFF2-40B4-BE49-F238E27FC236}">
                <a16:creationId xmlns:a16="http://schemas.microsoft.com/office/drawing/2014/main" id="{832AA4F0-A318-4012-AD87-9B5A26E4AE07}"/>
              </a:ext>
            </a:extLst>
          </p:cNvPr>
          <p:cNvSpPr>
            <a:spLocks noGrp="1" noChangeArrowheads="1"/>
          </p:cNvSpPr>
          <p:nvPr>
            <p:ph type="title"/>
          </p:nvPr>
        </p:nvSpPr>
        <p:spPr/>
        <p:txBody>
          <a:bodyPr/>
          <a:lstStyle/>
          <a:p>
            <a:pPr eaLnBrk="1" hangingPunct="1"/>
            <a:r>
              <a:rPr lang="en-US" altLang="en-US"/>
              <a:t>Summary</a:t>
            </a:r>
          </a:p>
        </p:txBody>
      </p:sp>
      <p:sp>
        <p:nvSpPr>
          <p:cNvPr id="71685" name="Rectangle 3">
            <a:extLst>
              <a:ext uri="{FF2B5EF4-FFF2-40B4-BE49-F238E27FC236}">
                <a16:creationId xmlns:a16="http://schemas.microsoft.com/office/drawing/2014/main" id="{BFF8A993-4CD9-44C7-A9B7-210315BABB32}"/>
              </a:ext>
            </a:extLst>
          </p:cNvPr>
          <p:cNvSpPr>
            <a:spLocks noGrp="1" noChangeArrowheads="1"/>
          </p:cNvSpPr>
          <p:nvPr>
            <p:ph type="body" idx="1"/>
          </p:nvPr>
        </p:nvSpPr>
        <p:spPr/>
        <p:txBody>
          <a:bodyPr/>
          <a:lstStyle/>
          <a:p>
            <a:pPr eaLnBrk="1" hangingPunct="1"/>
            <a:r>
              <a:rPr lang="en-US" altLang="en-US"/>
              <a:t>Encryption is a basic element of security.</a:t>
            </a:r>
          </a:p>
          <a:p>
            <a:pPr eaLnBrk="1" hangingPunct="1"/>
            <a:r>
              <a:rPr lang="en-US" altLang="en-US"/>
              <a:t>Encrypting data when transmitting is an integral part of any security plan.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Announcements and Reminders</a:t>
            </a:r>
          </a:p>
        </p:txBody>
      </p:sp>
      <p:sp>
        <p:nvSpPr>
          <p:cNvPr id="3" name="Content Placeholder 2"/>
          <p:cNvSpPr>
            <a:spLocks noGrp="1"/>
          </p:cNvSpPr>
          <p:nvPr>
            <p:ph idx="1"/>
          </p:nvPr>
        </p:nvSpPr>
        <p:spPr/>
        <p:txBody>
          <a:bodyPr/>
          <a:lstStyle/>
          <a:p>
            <a:r>
              <a:rPr lang="en-US" dirty="0"/>
              <a:t>We have a final paper as part of the course.</a:t>
            </a:r>
          </a:p>
          <a:p>
            <a:pPr lvl="1"/>
            <a:r>
              <a:rPr lang="en-US" dirty="0"/>
              <a:t>Next week you will propose your topic for this paper</a:t>
            </a:r>
          </a:p>
          <a:p>
            <a:pPr lvl="1"/>
            <a:r>
              <a:rPr lang="en-US" dirty="0"/>
              <a:t>Think about what might be interested in studying further</a:t>
            </a:r>
          </a:p>
          <a:p>
            <a:r>
              <a:rPr lang="en-US" dirty="0"/>
              <a:t>Lab 7 – Hashing, Encryption, Steganography</a:t>
            </a:r>
          </a:p>
          <a:p>
            <a:pPr lvl="1"/>
            <a:r>
              <a:rPr lang="en-US" dirty="0"/>
              <a:t>Lab </a:t>
            </a:r>
            <a:r>
              <a:rPr lang="en-US"/>
              <a:t>uses new Kali VM</a:t>
            </a:r>
            <a:endParaRPr lang="en-US" dirty="0"/>
          </a:p>
          <a:p>
            <a:pPr lvl="1"/>
            <a:r>
              <a:rPr lang="en-US" dirty="0"/>
              <a:t>Steganography project will give you passwords as you decode each file in order.</a:t>
            </a:r>
          </a:p>
          <a:p>
            <a:r>
              <a:rPr lang="en-US" dirty="0"/>
              <a:t>Weekly news note</a:t>
            </a:r>
          </a:p>
          <a:p>
            <a:r>
              <a:rPr lang="en-US" dirty="0"/>
              <a:t>Reading quiz</a:t>
            </a:r>
          </a:p>
        </p:txBody>
      </p:sp>
      <p:sp>
        <p:nvSpPr>
          <p:cNvPr id="4" name="Slide Number Placeholder 3"/>
          <p:cNvSpPr>
            <a:spLocks noGrp="1"/>
          </p:cNvSpPr>
          <p:nvPr>
            <p:ph type="sldNum" sz="quarter" idx="12"/>
          </p:nvPr>
        </p:nvSpPr>
        <p:spPr/>
        <p:txBody>
          <a:bodyPr/>
          <a:lstStyle/>
          <a:p>
            <a:fld id="{094C11E7-507F-4422-8D09-51AE60736DD4}" type="slidenum">
              <a:rPr lang="en-US" smtClean="0"/>
              <a:t>38</a:t>
            </a:fld>
            <a:endParaRPr lang="en-US"/>
          </a:p>
        </p:txBody>
      </p:sp>
    </p:spTree>
    <p:extLst>
      <p:ext uri="{BB962C8B-B14F-4D97-AF65-F5344CB8AC3E}">
        <p14:creationId xmlns:p14="http://schemas.microsoft.com/office/powerpoint/2010/main" val="28555435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3913</TotalTime>
  <Words>2840</Words>
  <Application>Microsoft Macintosh PowerPoint</Application>
  <PresentationFormat>Widescreen</PresentationFormat>
  <Paragraphs>460</Paragraphs>
  <Slides>38</Slides>
  <Notes>23</Notes>
  <HiddenSlides>0</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38</vt:i4>
      </vt:variant>
    </vt:vector>
  </HeadingPairs>
  <TitlesOfParts>
    <vt:vector size="48" baseType="lpstr">
      <vt:lpstr>ＭＳ Ｐゴシック</vt:lpstr>
      <vt:lpstr>ＭＳ Ｐゴシック</vt:lpstr>
      <vt:lpstr>Arial</vt:lpstr>
      <vt:lpstr>Arial Narrow</vt:lpstr>
      <vt:lpstr>Calibri</vt:lpstr>
      <vt:lpstr>Garamond</vt:lpstr>
      <vt:lpstr>Open Sans</vt:lpstr>
      <vt:lpstr>Times</vt:lpstr>
      <vt:lpstr>Wingdings</vt:lpstr>
      <vt:lpstr>Office Theme</vt:lpstr>
      <vt:lpstr>Cryptography, Steganography, and Hashing</vt:lpstr>
      <vt:lpstr>Agenda</vt:lpstr>
      <vt:lpstr>Introduction</vt:lpstr>
      <vt:lpstr>Cryptography Basics</vt:lpstr>
      <vt:lpstr>History of Encryption</vt:lpstr>
      <vt:lpstr>History of Encryption (cont.)</vt:lpstr>
      <vt:lpstr>Enigma Explained</vt:lpstr>
      <vt:lpstr>Binary Operations</vt:lpstr>
      <vt:lpstr>Binary Operations</vt:lpstr>
      <vt:lpstr>Binary Operations</vt:lpstr>
      <vt:lpstr>Binary Operations</vt:lpstr>
      <vt:lpstr>Binary Operations</vt:lpstr>
      <vt:lpstr>Cryptography Terms</vt:lpstr>
      <vt:lpstr>Modern Methods</vt:lpstr>
      <vt:lpstr>Modern Methods (cont.)</vt:lpstr>
      <vt:lpstr>Modern Methods (cont.)</vt:lpstr>
      <vt:lpstr>Modern Methods (cont.)</vt:lpstr>
      <vt:lpstr>Modern Methods (cont.)</vt:lpstr>
      <vt:lpstr>Modern Methods (cont.)</vt:lpstr>
      <vt:lpstr>Modern Methods (cont.)</vt:lpstr>
      <vt:lpstr>Modern Methods (cont.)</vt:lpstr>
      <vt:lpstr>Modern Methods (cont.)</vt:lpstr>
      <vt:lpstr>Modern Methods (cont.)</vt:lpstr>
      <vt:lpstr>RSA Continued</vt:lpstr>
      <vt:lpstr>Avoid ‘bad’ crypto</vt:lpstr>
      <vt:lpstr>Digital Signatures</vt:lpstr>
      <vt:lpstr>Hash</vt:lpstr>
      <vt:lpstr>Hash – cont.</vt:lpstr>
      <vt:lpstr>VERY Simple Illustration of Rainbow Tables</vt:lpstr>
      <vt:lpstr>Hash - Salt</vt:lpstr>
      <vt:lpstr>Historical Steganography</vt:lpstr>
      <vt:lpstr>Historical Steganography - Continued</vt:lpstr>
      <vt:lpstr>Steganography Terms</vt:lpstr>
      <vt:lpstr>Steganography Example</vt:lpstr>
      <vt:lpstr>Steganalysis</vt:lpstr>
      <vt:lpstr>Cryptanalysis</vt:lpstr>
      <vt:lpstr>Summary</vt:lpstr>
      <vt:lpstr>Announcements and Reminders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Brian Dorn</dc:creator>
  <cp:lastModifiedBy>Derek Babb</cp:lastModifiedBy>
  <cp:revision>98</cp:revision>
  <dcterms:created xsi:type="dcterms:W3CDTF">2018-01-05T15:42:29Z</dcterms:created>
  <dcterms:modified xsi:type="dcterms:W3CDTF">2025-03-24T16:42:29Z</dcterms:modified>
</cp:coreProperties>
</file>